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5" r:id="rId3"/>
    <p:sldId id="258" r:id="rId4"/>
    <p:sldId id="276" r:id="rId5"/>
    <p:sldId id="260" r:id="rId6"/>
    <p:sldId id="261" r:id="rId7"/>
    <p:sldId id="257" r:id="rId8"/>
    <p:sldId id="272" r:id="rId9"/>
    <p:sldId id="278" r:id="rId10"/>
    <p:sldId id="262" r:id="rId11"/>
    <p:sldId id="263" r:id="rId12"/>
    <p:sldId id="270" r:id="rId13"/>
    <p:sldId id="269" r:id="rId14"/>
    <p:sldId id="274"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71" autoAdjust="0"/>
    <p:restoredTop sz="94610"/>
  </p:normalViewPr>
  <p:slideViewPr>
    <p:cSldViewPr snapToGrid="0" snapToObjects="1">
      <p:cViewPr varScale="1">
        <p:scale>
          <a:sx n="67" d="100"/>
          <a:sy n="67" d="100"/>
        </p:scale>
        <p:origin x="1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ay Tyagi" userId="cb692f4ac5c4529d" providerId="LiveId" clId="{3C2EFB5D-98F7-485E-A2C2-77D0E8996672}"/>
    <pc:docChg chg="modSld">
      <pc:chgData name="Abhay Tyagi" userId="cb692f4ac5c4529d" providerId="LiveId" clId="{3C2EFB5D-98F7-485E-A2C2-77D0E8996672}" dt="2025-10-29T17:42:07.981" v="2" actId="20577"/>
      <pc:docMkLst>
        <pc:docMk/>
      </pc:docMkLst>
      <pc:sldChg chg="modSp mod">
        <pc:chgData name="Abhay Tyagi" userId="cb692f4ac5c4529d" providerId="LiveId" clId="{3C2EFB5D-98F7-485E-A2C2-77D0E8996672}" dt="2025-10-29T17:42:07.981" v="2" actId="20577"/>
        <pc:sldMkLst>
          <pc:docMk/>
          <pc:sldMk cId="0" sldId="275"/>
        </pc:sldMkLst>
        <pc:spChg chg="mod">
          <ac:chgData name="Abhay Tyagi" userId="cb692f4ac5c4529d" providerId="LiveId" clId="{3C2EFB5D-98F7-485E-A2C2-77D0E8996672}" dt="2025-10-29T17:41:47.421" v="0" actId="1076"/>
          <ac:spMkLst>
            <pc:docMk/>
            <pc:sldMk cId="0" sldId="275"/>
            <ac:spMk id="8" creationId="{00000000-0000-0000-0000-000000000000}"/>
          </ac:spMkLst>
        </pc:spChg>
        <pc:spChg chg="mod">
          <ac:chgData name="Abhay Tyagi" userId="cb692f4ac5c4529d" providerId="LiveId" clId="{3C2EFB5D-98F7-485E-A2C2-77D0E8996672}" dt="2025-10-29T17:42:07.981" v="2" actId="20577"/>
          <ac:spMkLst>
            <pc:docMk/>
            <pc:sldMk cId="0" sldId="275"/>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451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svg"/><Relationship Id="rId2" Type="http://schemas.openxmlformats.org/officeDocument/2006/relationships/notesSlide" Target="../notesSlides/notesSlide14.xml"/><Relationship Id="rId16" Type="http://schemas.openxmlformats.org/officeDocument/2006/relationships/image" Target="../media/image34.png"/><Relationship Id="rId20" Type="http://schemas.openxmlformats.org/officeDocument/2006/relationships/image" Target="../media/image38.svg"/><Relationship Id="rId1" Type="http://schemas.openxmlformats.org/officeDocument/2006/relationships/slideLayout" Target="../slideLayouts/slideLayout5.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77572"/>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Transition to Electrostatic Spray Technology in Beverage Bottle Production</a:t>
            </a:r>
            <a:endParaRPr lang="en-US" sz="4450" dirty="0"/>
          </a:p>
        </p:txBody>
      </p:sp>
      <p:sp>
        <p:nvSpPr>
          <p:cNvPr id="4" name="Text 1"/>
          <p:cNvSpPr/>
          <p:nvPr/>
        </p:nvSpPr>
        <p:spPr>
          <a:xfrm>
            <a:off x="793790" y="469463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Mid-Term Project</a:t>
            </a:r>
            <a:endParaRPr lang="en-US" sz="2200" dirty="0"/>
          </a:p>
        </p:txBody>
      </p:sp>
      <p:sp>
        <p:nvSpPr>
          <p:cNvPr id="5" name="Text 2"/>
          <p:cNvSpPr/>
          <p:nvPr/>
        </p:nvSpPr>
        <p:spPr>
          <a:xfrm>
            <a:off x="793790" y="5389126"/>
            <a:ext cx="7556421" cy="362903"/>
          </a:xfrm>
          <a:prstGeom prst="rect">
            <a:avLst/>
          </a:prstGeom>
          <a:noFill/>
          <a:ln/>
        </p:spPr>
        <p:txBody>
          <a:bodyPr wrap="none" lIns="0" tIns="0" rIns="0" bIns="0" rtlCol="0" anchor="t"/>
          <a:lstStyle/>
          <a:p>
            <a:pPr marL="0" indent="0" algn="l">
              <a:lnSpc>
                <a:spcPts val="2850"/>
              </a:lnSpc>
              <a:buNone/>
            </a:pPr>
            <a:r>
              <a:rPr lang="en-US" dirty="0">
                <a:solidFill>
                  <a:srgbClr val="272525"/>
                </a:solidFill>
                <a:latin typeface="Inter" pitchFamily="34" charset="0"/>
                <a:ea typeface="Inter" pitchFamily="34" charset="-122"/>
                <a:cs typeface="Inter" pitchFamily="34" charset="-120"/>
              </a:rPr>
              <a:t>Abhay Tyagi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39497"/>
            <a:ext cx="7556421" cy="1063228"/>
          </a:xfrm>
          <a:prstGeom prst="rect">
            <a:avLst/>
          </a:prstGeom>
          <a:noFill/>
          <a:ln/>
        </p:spPr>
        <p:txBody>
          <a:bodyPr wrap="squar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Product Description and Sector Application</a:t>
            </a:r>
            <a:endParaRPr lang="en-US" sz="3300" dirty="0"/>
          </a:p>
        </p:txBody>
      </p:sp>
      <p:sp>
        <p:nvSpPr>
          <p:cNvPr id="4" name="Shape 1"/>
          <p:cNvSpPr/>
          <p:nvPr/>
        </p:nvSpPr>
        <p:spPr>
          <a:xfrm>
            <a:off x="6280190" y="2057876"/>
            <a:ext cx="7556421" cy="2541746"/>
          </a:xfrm>
          <a:prstGeom prst="roundRect">
            <a:avLst>
              <a:gd name="adj" fmla="val 4317"/>
            </a:avLst>
          </a:prstGeom>
          <a:solidFill>
            <a:srgbClr val="FFFFFF"/>
          </a:solidFill>
          <a:ln w="22860">
            <a:solidFill>
              <a:srgbClr val="C0C1D7"/>
            </a:solidFill>
            <a:prstDash val="solid"/>
          </a:ln>
        </p:spPr>
      </p:sp>
      <p:sp>
        <p:nvSpPr>
          <p:cNvPr id="5" name="Shape 2"/>
          <p:cNvSpPr/>
          <p:nvPr/>
        </p:nvSpPr>
        <p:spPr>
          <a:xfrm>
            <a:off x="6257330" y="2057876"/>
            <a:ext cx="91440" cy="2541746"/>
          </a:xfrm>
          <a:prstGeom prst="roundRect">
            <a:avLst>
              <a:gd name="adj" fmla="val 78140"/>
            </a:avLst>
          </a:prstGeom>
          <a:solidFill>
            <a:srgbClr val="4950BC"/>
          </a:solidFill>
          <a:ln/>
        </p:spPr>
      </p:sp>
      <p:sp>
        <p:nvSpPr>
          <p:cNvPr id="6" name="Text 3"/>
          <p:cNvSpPr/>
          <p:nvPr/>
        </p:nvSpPr>
        <p:spPr>
          <a:xfrm>
            <a:off x="6541651" y="2250758"/>
            <a:ext cx="2718673" cy="318849"/>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Technology Overview</a:t>
            </a:r>
            <a:endParaRPr lang="en-US" sz="2000" dirty="0"/>
          </a:p>
        </p:txBody>
      </p:sp>
      <p:sp>
        <p:nvSpPr>
          <p:cNvPr id="7" name="Text 4"/>
          <p:cNvSpPr/>
          <p:nvPr/>
        </p:nvSpPr>
        <p:spPr>
          <a:xfrm>
            <a:off x="6541651" y="2671643"/>
            <a:ext cx="7221974" cy="1088708"/>
          </a:xfrm>
          <a:prstGeom prst="rect">
            <a:avLst/>
          </a:prstGeom>
          <a:noFill/>
          <a:ln/>
        </p:spPr>
        <p:txBody>
          <a:bodyPr wrap="square" lIns="0" tIns="0" rIns="0" bIns="0" rtlCol="0" anchor="t"/>
          <a:lstStyle/>
          <a:p>
            <a:pPr marL="0" indent="0" algn="l">
              <a:lnSpc>
                <a:spcPts val="2100"/>
              </a:lnSpc>
              <a:buNone/>
            </a:pPr>
            <a:r>
              <a:rPr lang="en-US" dirty="0">
                <a:solidFill>
                  <a:srgbClr val="272525"/>
                </a:solidFill>
                <a:latin typeface="Inter" pitchFamily="34" charset="0"/>
                <a:ea typeface="Inter" pitchFamily="34" charset="-122"/>
                <a:cs typeface="Inter" pitchFamily="34" charset="-120"/>
              </a:rPr>
              <a:t>Electrostatic spray technology represents a significant advancement in beverage bottle coating processes. By applying an electrical charge to paint particles, the system ensures superior coating adhesion and uniformity while dramatically reducing material waste.</a:t>
            </a:r>
            <a:endParaRPr lang="en-US" dirty="0"/>
          </a:p>
        </p:txBody>
      </p:sp>
      <p:sp>
        <p:nvSpPr>
          <p:cNvPr id="8" name="Text 5"/>
          <p:cNvSpPr/>
          <p:nvPr/>
        </p:nvSpPr>
        <p:spPr>
          <a:xfrm>
            <a:off x="6541651" y="3780115"/>
            <a:ext cx="7221974" cy="544354"/>
          </a:xfrm>
          <a:prstGeom prst="rect">
            <a:avLst/>
          </a:prstGeom>
          <a:noFill/>
          <a:ln/>
        </p:spPr>
        <p:txBody>
          <a:bodyPr wrap="square" lIns="0" tIns="0" rIns="0" bIns="0" rtlCol="0" anchor="t"/>
          <a:lstStyle/>
          <a:p>
            <a:pPr marL="0" indent="0" algn="l">
              <a:lnSpc>
                <a:spcPts val="2100"/>
              </a:lnSpc>
              <a:buNone/>
            </a:pPr>
            <a:r>
              <a:rPr lang="en-US" b="1" dirty="0">
                <a:solidFill>
                  <a:srgbClr val="272525"/>
                </a:solidFill>
                <a:latin typeface="Inter" pitchFamily="34" charset="0"/>
                <a:ea typeface="Inter" pitchFamily="34" charset="-122"/>
                <a:cs typeface="Inter" pitchFamily="34" charset="-120"/>
              </a:rPr>
              <a:t>Pro Xp Auto Electrostatic Spray Guns</a:t>
            </a:r>
            <a:r>
              <a:rPr lang="en-US" dirty="0">
                <a:solidFill>
                  <a:srgbClr val="272525"/>
                </a:solidFill>
                <a:latin typeface="Inter" pitchFamily="34" charset="0"/>
                <a:ea typeface="Inter" pitchFamily="34" charset="-122"/>
                <a:cs typeface="Inter" pitchFamily="34" charset="-120"/>
              </a:rPr>
              <a:t> deliver industry-leading performance with precision atomization and intelligent charge control.</a:t>
            </a:r>
            <a:endParaRPr lang="en-US" dirty="0"/>
          </a:p>
        </p:txBody>
      </p:sp>
      <p:sp>
        <p:nvSpPr>
          <p:cNvPr id="9" name="Shape 6"/>
          <p:cNvSpPr/>
          <p:nvPr/>
        </p:nvSpPr>
        <p:spPr>
          <a:xfrm>
            <a:off x="6280190" y="4769644"/>
            <a:ext cx="7556421" cy="2720340"/>
          </a:xfrm>
          <a:prstGeom prst="roundRect">
            <a:avLst>
              <a:gd name="adj" fmla="val 4034"/>
            </a:avLst>
          </a:prstGeom>
          <a:solidFill>
            <a:srgbClr val="FFFFFF"/>
          </a:solidFill>
          <a:ln w="22860">
            <a:solidFill>
              <a:srgbClr val="C0C1D7"/>
            </a:solidFill>
            <a:prstDash val="solid"/>
          </a:ln>
        </p:spPr>
      </p:sp>
      <p:sp>
        <p:nvSpPr>
          <p:cNvPr id="10" name="Shape 7"/>
          <p:cNvSpPr/>
          <p:nvPr/>
        </p:nvSpPr>
        <p:spPr>
          <a:xfrm>
            <a:off x="6257330" y="4769644"/>
            <a:ext cx="91440" cy="2720340"/>
          </a:xfrm>
          <a:prstGeom prst="roundRect">
            <a:avLst>
              <a:gd name="adj" fmla="val 78140"/>
            </a:avLst>
          </a:prstGeom>
          <a:solidFill>
            <a:srgbClr val="4950BC"/>
          </a:solidFill>
          <a:ln/>
        </p:spPr>
      </p:sp>
      <p:sp>
        <p:nvSpPr>
          <p:cNvPr id="11" name="Text 8"/>
          <p:cNvSpPr/>
          <p:nvPr/>
        </p:nvSpPr>
        <p:spPr>
          <a:xfrm>
            <a:off x="6541651" y="4962525"/>
            <a:ext cx="2679263" cy="318849"/>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Industry Applications</a:t>
            </a:r>
            <a:endParaRPr lang="en-US" sz="2000" dirty="0"/>
          </a:p>
        </p:txBody>
      </p:sp>
      <p:sp>
        <p:nvSpPr>
          <p:cNvPr id="12" name="Text 9"/>
          <p:cNvSpPr/>
          <p:nvPr/>
        </p:nvSpPr>
        <p:spPr>
          <a:xfrm>
            <a:off x="6541651" y="5383411"/>
            <a:ext cx="7102078" cy="544354"/>
          </a:xfrm>
          <a:prstGeom prst="rect">
            <a:avLst/>
          </a:prstGeom>
          <a:noFill/>
          <a:ln/>
        </p:spPr>
        <p:txBody>
          <a:bodyPr wrap="square" lIns="0" tIns="0" rIns="0" bIns="0" rtlCol="0" anchor="t"/>
          <a:lstStyle/>
          <a:p>
            <a:pPr marL="0" indent="0" algn="l">
              <a:lnSpc>
                <a:spcPts val="2100"/>
              </a:lnSpc>
              <a:buNone/>
            </a:pPr>
            <a:r>
              <a:rPr lang="en-US" dirty="0">
                <a:solidFill>
                  <a:srgbClr val="272525"/>
                </a:solidFill>
                <a:latin typeface="Inter" pitchFamily="34" charset="0"/>
                <a:ea typeface="Inter" pitchFamily="34" charset="-122"/>
                <a:cs typeface="Inter" pitchFamily="34" charset="-120"/>
              </a:rPr>
              <a:t>This technology serves the beverage manufacturing </a:t>
            </a:r>
            <a:r>
              <a:rPr lang="en-US">
                <a:solidFill>
                  <a:srgbClr val="272525"/>
                </a:solidFill>
                <a:latin typeface="Inter" pitchFamily="34" charset="0"/>
                <a:ea typeface="Inter" pitchFamily="34" charset="-122"/>
                <a:cs typeface="Inter" pitchFamily="34" charset="-120"/>
              </a:rPr>
              <a:t>sector across multiple </a:t>
            </a:r>
            <a:r>
              <a:rPr lang="en-US" dirty="0">
                <a:solidFill>
                  <a:srgbClr val="272525"/>
                </a:solidFill>
                <a:latin typeface="Inter" pitchFamily="34" charset="0"/>
                <a:ea typeface="Inter" pitchFamily="34" charset="-122"/>
                <a:cs typeface="Inter" pitchFamily="34" charset="-120"/>
              </a:rPr>
              <a:t>production environments:</a:t>
            </a:r>
            <a:endParaRPr lang="en-US" dirty="0"/>
          </a:p>
        </p:txBody>
      </p:sp>
      <p:sp>
        <p:nvSpPr>
          <p:cNvPr id="13" name="Text 10"/>
          <p:cNvSpPr/>
          <p:nvPr/>
        </p:nvSpPr>
        <p:spPr>
          <a:xfrm>
            <a:off x="6541651" y="6029801"/>
            <a:ext cx="7102078" cy="272177"/>
          </a:xfrm>
          <a:prstGeom prst="rect">
            <a:avLst/>
          </a:prstGeom>
          <a:noFill/>
          <a:ln/>
        </p:spPr>
        <p:txBody>
          <a:bodyPr wrap="none" lIns="0" tIns="0" rIns="0" bIns="0" rtlCol="0" anchor="t"/>
          <a:lstStyle/>
          <a:p>
            <a:pPr marL="342900" indent="-342900" algn="l">
              <a:lnSpc>
                <a:spcPts val="2100"/>
              </a:lnSpc>
              <a:buSzPct val="100000"/>
              <a:buChar char="•"/>
            </a:pPr>
            <a:r>
              <a:rPr lang="en-US" dirty="0">
                <a:solidFill>
                  <a:srgbClr val="272525"/>
                </a:solidFill>
                <a:latin typeface="Inter" pitchFamily="34" charset="0"/>
                <a:ea typeface="Inter" pitchFamily="34" charset="-122"/>
                <a:cs typeface="Inter" pitchFamily="34" charset="-120"/>
              </a:rPr>
              <a:t>High-volume automated bottling lines</a:t>
            </a:r>
            <a:endParaRPr lang="en-US" dirty="0"/>
          </a:p>
        </p:txBody>
      </p:sp>
      <p:sp>
        <p:nvSpPr>
          <p:cNvPr id="14" name="Text 11"/>
          <p:cNvSpPr/>
          <p:nvPr/>
        </p:nvSpPr>
        <p:spPr>
          <a:xfrm>
            <a:off x="6541651" y="6361509"/>
            <a:ext cx="7102078" cy="272177"/>
          </a:xfrm>
          <a:prstGeom prst="rect">
            <a:avLst/>
          </a:prstGeom>
          <a:noFill/>
          <a:ln/>
        </p:spPr>
        <p:txBody>
          <a:bodyPr wrap="none" lIns="0" tIns="0" rIns="0" bIns="0" rtlCol="0" anchor="t"/>
          <a:lstStyle/>
          <a:p>
            <a:pPr marL="342900" indent="-342900" algn="l">
              <a:lnSpc>
                <a:spcPts val="2100"/>
              </a:lnSpc>
              <a:buSzPct val="100000"/>
              <a:buChar char="•"/>
            </a:pPr>
            <a:r>
              <a:rPr lang="en-US" dirty="0">
                <a:solidFill>
                  <a:srgbClr val="272525"/>
                </a:solidFill>
                <a:latin typeface="Inter" pitchFamily="34" charset="0"/>
                <a:ea typeface="Inter" pitchFamily="34" charset="-122"/>
                <a:cs typeface="Inter" pitchFamily="34" charset="-120"/>
              </a:rPr>
              <a:t>Semi-automated production facilities</a:t>
            </a:r>
            <a:endParaRPr lang="en-US" dirty="0"/>
          </a:p>
        </p:txBody>
      </p:sp>
      <p:sp>
        <p:nvSpPr>
          <p:cNvPr id="15" name="Text 12"/>
          <p:cNvSpPr/>
          <p:nvPr/>
        </p:nvSpPr>
        <p:spPr>
          <a:xfrm>
            <a:off x="6541651" y="6693218"/>
            <a:ext cx="7102078" cy="272177"/>
          </a:xfrm>
          <a:prstGeom prst="rect">
            <a:avLst/>
          </a:prstGeom>
          <a:noFill/>
          <a:ln/>
        </p:spPr>
        <p:txBody>
          <a:bodyPr wrap="none" lIns="0" tIns="0" rIns="0" bIns="0" rtlCol="0" anchor="t"/>
          <a:lstStyle/>
          <a:p>
            <a:pPr marL="342900" indent="-342900" algn="l">
              <a:lnSpc>
                <a:spcPts val="2100"/>
              </a:lnSpc>
              <a:buSzPct val="100000"/>
              <a:buChar char="•"/>
            </a:pPr>
            <a:r>
              <a:rPr lang="en-US" dirty="0">
                <a:solidFill>
                  <a:srgbClr val="272525"/>
                </a:solidFill>
                <a:latin typeface="Inter" pitchFamily="34" charset="0"/>
                <a:ea typeface="Inter" pitchFamily="34" charset="-122"/>
                <a:cs typeface="Inter" pitchFamily="34" charset="-120"/>
              </a:rPr>
              <a:t>Manual coating stations requiring precision</a:t>
            </a:r>
            <a:endParaRPr lang="en-US" dirty="0"/>
          </a:p>
        </p:txBody>
      </p:sp>
      <p:sp>
        <p:nvSpPr>
          <p:cNvPr id="16" name="Text 13"/>
          <p:cNvSpPr/>
          <p:nvPr/>
        </p:nvSpPr>
        <p:spPr>
          <a:xfrm>
            <a:off x="6541651" y="7024926"/>
            <a:ext cx="7102078" cy="272177"/>
          </a:xfrm>
          <a:prstGeom prst="rect">
            <a:avLst/>
          </a:prstGeom>
          <a:noFill/>
          <a:ln/>
        </p:spPr>
        <p:txBody>
          <a:bodyPr wrap="none" lIns="0" tIns="0" rIns="0" bIns="0" rtlCol="0" anchor="t"/>
          <a:lstStyle/>
          <a:p>
            <a:pPr marL="342900" indent="-342900" algn="l">
              <a:lnSpc>
                <a:spcPts val="2100"/>
              </a:lnSpc>
              <a:buSzPct val="100000"/>
              <a:buChar char="•"/>
            </a:pPr>
            <a:r>
              <a:rPr lang="en-US" dirty="0">
                <a:solidFill>
                  <a:srgbClr val="272525"/>
                </a:solidFill>
                <a:latin typeface="Inter" pitchFamily="34" charset="0"/>
                <a:ea typeface="Inter" pitchFamily="34" charset="-122"/>
                <a:cs typeface="Inter" pitchFamily="34" charset="-120"/>
              </a:rPr>
              <a:t>Quality-critical premium beverage packaging</a:t>
            </a:r>
            <a:endParaRPr lang="en-US" dirty="0"/>
          </a:p>
        </p:txBody>
      </p:sp>
      <p:sp>
        <p:nvSpPr>
          <p:cNvPr id="17" name="Rectangle 16">
            <a:extLst>
              <a:ext uri="{FF2B5EF4-FFF2-40B4-BE49-F238E27FC236}">
                <a16:creationId xmlns:a16="http://schemas.microsoft.com/office/drawing/2014/main" id="{E3DDBE2C-1EC8-65B3-3F5D-F8EACB061E1F}"/>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4143" y="601147"/>
            <a:ext cx="6460450" cy="682347"/>
          </a:xfrm>
          <a:prstGeom prst="rect">
            <a:avLst/>
          </a:prstGeom>
          <a:noFill/>
          <a:ln/>
        </p:spPr>
        <p:txBody>
          <a:bodyPr wrap="none" lIns="0" tIns="0" rIns="0" bIns="0" rtlCol="0" anchor="t"/>
          <a:lstStyle/>
          <a:p>
            <a:pPr marL="0" indent="0" algn="l">
              <a:lnSpc>
                <a:spcPts val="5350"/>
              </a:lnSpc>
              <a:buNone/>
            </a:pPr>
            <a:r>
              <a:rPr lang="en-US" sz="4250" b="1" dirty="0">
                <a:solidFill>
                  <a:srgbClr val="000000"/>
                </a:solidFill>
                <a:latin typeface="Inter Bold" pitchFamily="34" charset="0"/>
                <a:ea typeface="Inter Bold" pitchFamily="34" charset="-122"/>
                <a:cs typeface="Inter Bold" pitchFamily="34" charset="-120"/>
              </a:rPr>
              <a:t>Customer Requirements</a:t>
            </a:r>
            <a:endParaRPr lang="en-US" sz="4250" dirty="0"/>
          </a:p>
        </p:txBody>
      </p:sp>
      <p:sp>
        <p:nvSpPr>
          <p:cNvPr id="3" name="Shape 1"/>
          <p:cNvSpPr/>
          <p:nvPr/>
        </p:nvSpPr>
        <p:spPr>
          <a:xfrm>
            <a:off x="764143" y="1720096"/>
            <a:ext cx="6441877" cy="2844998"/>
          </a:xfrm>
          <a:prstGeom prst="roundRect">
            <a:avLst>
              <a:gd name="adj" fmla="val 3223"/>
            </a:avLst>
          </a:prstGeom>
          <a:solidFill>
            <a:srgbClr val="DADBF1"/>
          </a:solidFill>
          <a:ln w="7620">
            <a:solidFill>
              <a:srgbClr val="C0C1D7"/>
            </a:solidFill>
            <a:prstDash val="solid"/>
          </a:ln>
        </p:spPr>
      </p:sp>
      <p:sp>
        <p:nvSpPr>
          <p:cNvPr id="4" name="Shape 2"/>
          <p:cNvSpPr/>
          <p:nvPr/>
        </p:nvSpPr>
        <p:spPr>
          <a:xfrm>
            <a:off x="990005" y="1945958"/>
            <a:ext cx="654963" cy="654963"/>
          </a:xfrm>
          <a:prstGeom prst="roundRect">
            <a:avLst>
              <a:gd name="adj" fmla="val 13959698"/>
            </a:avLst>
          </a:prstGeom>
          <a:solidFill>
            <a:srgbClr val="4950BC"/>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0146" y="2125980"/>
            <a:ext cx="294680" cy="294680"/>
          </a:xfrm>
          <a:prstGeom prst="rect">
            <a:avLst/>
          </a:prstGeom>
        </p:spPr>
      </p:pic>
      <p:sp>
        <p:nvSpPr>
          <p:cNvPr id="6" name="Text 3"/>
          <p:cNvSpPr/>
          <p:nvPr/>
        </p:nvSpPr>
        <p:spPr>
          <a:xfrm>
            <a:off x="990005" y="2819162"/>
            <a:ext cx="3280767"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Superior Coating Quality</a:t>
            </a:r>
            <a:endParaRPr lang="en-US" sz="2100" dirty="0"/>
          </a:p>
        </p:txBody>
      </p:sp>
      <p:sp>
        <p:nvSpPr>
          <p:cNvPr id="7" name="Text 4"/>
          <p:cNvSpPr/>
          <p:nvPr/>
        </p:nvSpPr>
        <p:spPr>
          <a:xfrm>
            <a:off x="990005" y="3291245"/>
            <a:ext cx="5990153" cy="1047988"/>
          </a:xfrm>
          <a:prstGeom prst="rect">
            <a:avLst/>
          </a:prstGeom>
          <a:noFill/>
          <a:ln/>
        </p:spPr>
        <p:txBody>
          <a:bodyPr wrap="square" lIns="0" tIns="0" rIns="0" bIns="0" rtlCol="0" anchor="t"/>
          <a:lstStyle/>
          <a:p>
            <a:pPr marL="0" indent="0" algn="l">
              <a:lnSpc>
                <a:spcPts val="2750"/>
              </a:lnSpc>
              <a:buNone/>
            </a:pPr>
            <a:r>
              <a:rPr lang="en-US" dirty="0">
                <a:solidFill>
                  <a:srgbClr val="272525"/>
                </a:solidFill>
                <a:latin typeface="Inter" pitchFamily="34" charset="0"/>
                <a:ea typeface="Inter" pitchFamily="34" charset="-122"/>
                <a:cs typeface="Inter" pitchFamily="34" charset="-120"/>
              </a:rPr>
              <a:t>Achieve flawless finish with minimal defects, ensuring consistent brand presentation and customer satisfaction across all product lines.</a:t>
            </a:r>
            <a:endParaRPr lang="en-US" dirty="0"/>
          </a:p>
        </p:txBody>
      </p:sp>
      <p:sp>
        <p:nvSpPr>
          <p:cNvPr id="8" name="Shape 5"/>
          <p:cNvSpPr/>
          <p:nvPr/>
        </p:nvSpPr>
        <p:spPr>
          <a:xfrm>
            <a:off x="7424261" y="1720096"/>
            <a:ext cx="6441996" cy="2844998"/>
          </a:xfrm>
          <a:prstGeom prst="roundRect">
            <a:avLst>
              <a:gd name="adj" fmla="val 3223"/>
            </a:avLst>
          </a:prstGeom>
          <a:solidFill>
            <a:srgbClr val="DADBF1"/>
          </a:solidFill>
          <a:ln w="7620">
            <a:solidFill>
              <a:srgbClr val="C0C1D7"/>
            </a:solidFill>
            <a:prstDash val="solid"/>
          </a:ln>
        </p:spPr>
      </p:sp>
      <p:sp>
        <p:nvSpPr>
          <p:cNvPr id="9" name="Shape 6"/>
          <p:cNvSpPr/>
          <p:nvPr/>
        </p:nvSpPr>
        <p:spPr>
          <a:xfrm>
            <a:off x="7650123" y="1945958"/>
            <a:ext cx="654963" cy="654963"/>
          </a:xfrm>
          <a:prstGeom prst="roundRect">
            <a:avLst>
              <a:gd name="adj" fmla="val 13959698"/>
            </a:avLst>
          </a:prstGeom>
          <a:solidFill>
            <a:srgbClr val="4950BC"/>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30264" y="2125980"/>
            <a:ext cx="294680" cy="294680"/>
          </a:xfrm>
          <a:prstGeom prst="rect">
            <a:avLst/>
          </a:prstGeom>
        </p:spPr>
      </p:pic>
      <p:sp>
        <p:nvSpPr>
          <p:cNvPr id="11" name="Text 7"/>
          <p:cNvSpPr/>
          <p:nvPr/>
        </p:nvSpPr>
        <p:spPr>
          <a:xfrm>
            <a:off x="7650123" y="2819162"/>
            <a:ext cx="2970371"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Enhanced Throughput</a:t>
            </a:r>
            <a:endParaRPr lang="en-US" sz="2100" dirty="0"/>
          </a:p>
        </p:txBody>
      </p:sp>
      <p:sp>
        <p:nvSpPr>
          <p:cNvPr id="12" name="Text 8"/>
          <p:cNvSpPr/>
          <p:nvPr/>
        </p:nvSpPr>
        <p:spPr>
          <a:xfrm>
            <a:off x="7650123" y="3291245"/>
            <a:ext cx="5990273" cy="1047988"/>
          </a:xfrm>
          <a:prstGeom prst="rect">
            <a:avLst/>
          </a:prstGeom>
          <a:noFill/>
          <a:ln/>
        </p:spPr>
        <p:txBody>
          <a:bodyPr wrap="square" lIns="0" tIns="0" rIns="0" bIns="0" rtlCol="0" anchor="t"/>
          <a:lstStyle/>
          <a:p>
            <a:pPr marL="0" indent="0" algn="l">
              <a:lnSpc>
                <a:spcPts val="2750"/>
              </a:lnSpc>
              <a:buNone/>
            </a:pPr>
            <a:r>
              <a:rPr lang="en-US" dirty="0">
                <a:solidFill>
                  <a:srgbClr val="272525"/>
                </a:solidFill>
                <a:latin typeface="Inter" pitchFamily="34" charset="0"/>
                <a:ea typeface="Inter" pitchFamily="34" charset="-122"/>
                <a:cs typeface="Inter" pitchFamily="34" charset="-120"/>
              </a:rPr>
              <a:t>Increase production capacity to meet growing market demand while maintaining operational efficiency and quality standards.</a:t>
            </a:r>
            <a:endParaRPr lang="en-US" dirty="0"/>
          </a:p>
        </p:txBody>
      </p:sp>
      <p:sp>
        <p:nvSpPr>
          <p:cNvPr id="13" name="Shape 9"/>
          <p:cNvSpPr/>
          <p:nvPr/>
        </p:nvSpPr>
        <p:spPr>
          <a:xfrm>
            <a:off x="764143" y="4783336"/>
            <a:ext cx="6441877" cy="2844998"/>
          </a:xfrm>
          <a:prstGeom prst="roundRect">
            <a:avLst>
              <a:gd name="adj" fmla="val 3223"/>
            </a:avLst>
          </a:prstGeom>
          <a:solidFill>
            <a:srgbClr val="DADBF1"/>
          </a:solidFill>
          <a:ln w="7620">
            <a:solidFill>
              <a:srgbClr val="C0C1D7"/>
            </a:solidFill>
            <a:prstDash val="solid"/>
          </a:ln>
        </p:spPr>
      </p:sp>
      <p:sp>
        <p:nvSpPr>
          <p:cNvPr id="14" name="Shape 10"/>
          <p:cNvSpPr/>
          <p:nvPr/>
        </p:nvSpPr>
        <p:spPr>
          <a:xfrm>
            <a:off x="990005" y="5009198"/>
            <a:ext cx="654963" cy="654963"/>
          </a:xfrm>
          <a:prstGeom prst="roundRect">
            <a:avLst>
              <a:gd name="adj" fmla="val 13959698"/>
            </a:avLst>
          </a:prstGeom>
          <a:solidFill>
            <a:srgbClr val="4950BC"/>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0146" y="5189220"/>
            <a:ext cx="294680" cy="294680"/>
          </a:xfrm>
          <a:prstGeom prst="rect">
            <a:avLst/>
          </a:prstGeom>
        </p:spPr>
      </p:pic>
      <p:sp>
        <p:nvSpPr>
          <p:cNvPr id="16" name="Text 11"/>
          <p:cNvSpPr/>
          <p:nvPr/>
        </p:nvSpPr>
        <p:spPr>
          <a:xfrm>
            <a:off x="990005" y="5882402"/>
            <a:ext cx="2729151"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Reduced Downtime</a:t>
            </a:r>
            <a:endParaRPr lang="en-US" sz="2100" dirty="0"/>
          </a:p>
        </p:txBody>
      </p:sp>
      <p:sp>
        <p:nvSpPr>
          <p:cNvPr id="17" name="Text 12"/>
          <p:cNvSpPr/>
          <p:nvPr/>
        </p:nvSpPr>
        <p:spPr>
          <a:xfrm>
            <a:off x="990005" y="6354485"/>
            <a:ext cx="5990153" cy="1047988"/>
          </a:xfrm>
          <a:prstGeom prst="rect">
            <a:avLst/>
          </a:prstGeom>
          <a:noFill/>
          <a:ln/>
        </p:spPr>
        <p:txBody>
          <a:bodyPr wrap="square" lIns="0" tIns="0" rIns="0" bIns="0" rtlCol="0" anchor="t"/>
          <a:lstStyle/>
          <a:p>
            <a:pPr marL="0" indent="0" algn="l">
              <a:lnSpc>
                <a:spcPts val="2750"/>
              </a:lnSpc>
              <a:buNone/>
            </a:pPr>
            <a:r>
              <a:rPr lang="en-US" dirty="0">
                <a:solidFill>
                  <a:srgbClr val="272525"/>
                </a:solidFill>
                <a:latin typeface="Inter" pitchFamily="34" charset="0"/>
                <a:ea typeface="Inter" pitchFamily="34" charset="-122"/>
                <a:cs typeface="Inter" pitchFamily="34" charset="-120"/>
              </a:rPr>
              <a:t>Minimize maintenance interruptions and operational costs through improved equipment reliability and preventive strategies.</a:t>
            </a:r>
            <a:endParaRPr lang="en-US" dirty="0"/>
          </a:p>
        </p:txBody>
      </p:sp>
      <p:sp>
        <p:nvSpPr>
          <p:cNvPr id="18" name="Shape 13"/>
          <p:cNvSpPr/>
          <p:nvPr/>
        </p:nvSpPr>
        <p:spPr>
          <a:xfrm>
            <a:off x="7424261" y="4783336"/>
            <a:ext cx="6441996" cy="2844998"/>
          </a:xfrm>
          <a:prstGeom prst="roundRect">
            <a:avLst>
              <a:gd name="adj" fmla="val 3223"/>
            </a:avLst>
          </a:prstGeom>
          <a:solidFill>
            <a:srgbClr val="DADBF1"/>
          </a:solidFill>
          <a:ln w="7620">
            <a:solidFill>
              <a:srgbClr val="C0C1D7"/>
            </a:solidFill>
            <a:prstDash val="solid"/>
          </a:ln>
        </p:spPr>
      </p:sp>
      <p:sp>
        <p:nvSpPr>
          <p:cNvPr id="19" name="Shape 14"/>
          <p:cNvSpPr/>
          <p:nvPr/>
        </p:nvSpPr>
        <p:spPr>
          <a:xfrm>
            <a:off x="7650123" y="5009198"/>
            <a:ext cx="654963" cy="654963"/>
          </a:xfrm>
          <a:prstGeom prst="roundRect">
            <a:avLst>
              <a:gd name="adj" fmla="val 13959698"/>
            </a:avLst>
          </a:prstGeom>
          <a:solidFill>
            <a:srgbClr val="4950BC"/>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30264" y="5189220"/>
            <a:ext cx="294680" cy="294680"/>
          </a:xfrm>
          <a:prstGeom prst="rect">
            <a:avLst/>
          </a:prstGeom>
        </p:spPr>
      </p:pic>
      <p:sp>
        <p:nvSpPr>
          <p:cNvPr id="21" name="Text 15"/>
          <p:cNvSpPr/>
          <p:nvPr/>
        </p:nvSpPr>
        <p:spPr>
          <a:xfrm>
            <a:off x="7650123" y="5882402"/>
            <a:ext cx="381595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Environmental Sustainability</a:t>
            </a:r>
            <a:endParaRPr lang="en-US" sz="2100" dirty="0"/>
          </a:p>
        </p:txBody>
      </p:sp>
      <p:sp>
        <p:nvSpPr>
          <p:cNvPr id="22" name="Text 16"/>
          <p:cNvSpPr/>
          <p:nvPr/>
        </p:nvSpPr>
        <p:spPr>
          <a:xfrm>
            <a:off x="7650123" y="6354485"/>
            <a:ext cx="5990273" cy="1047988"/>
          </a:xfrm>
          <a:prstGeom prst="rect">
            <a:avLst/>
          </a:prstGeom>
          <a:noFill/>
          <a:ln/>
        </p:spPr>
        <p:txBody>
          <a:bodyPr wrap="square" lIns="0" tIns="0" rIns="0" bIns="0" rtlCol="0" anchor="t"/>
          <a:lstStyle/>
          <a:p>
            <a:pPr marL="0" indent="0" algn="l">
              <a:lnSpc>
                <a:spcPts val="2750"/>
              </a:lnSpc>
              <a:buNone/>
            </a:pPr>
            <a:r>
              <a:rPr lang="en-US" dirty="0">
                <a:solidFill>
                  <a:srgbClr val="272525"/>
                </a:solidFill>
                <a:latin typeface="Inter" pitchFamily="34" charset="0"/>
                <a:ea typeface="Inter" pitchFamily="34" charset="-122"/>
                <a:cs typeface="Inter" pitchFamily="34" charset="-120"/>
              </a:rPr>
              <a:t>Lower paint waste and volatile organic compound emissions, aligning with corporate sustainability goals and regulatory compliance.</a:t>
            </a:r>
            <a:endParaRPr lang="en-US" dirty="0"/>
          </a:p>
        </p:txBody>
      </p:sp>
      <p:sp>
        <p:nvSpPr>
          <p:cNvPr id="23" name="Rectangle 22">
            <a:extLst>
              <a:ext uri="{FF2B5EF4-FFF2-40B4-BE49-F238E27FC236}">
                <a16:creationId xmlns:a16="http://schemas.microsoft.com/office/drawing/2014/main" id="{C33B0DA7-B832-ABFB-1546-A9C102247F53}"/>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075" y="624483"/>
            <a:ext cx="10301288" cy="566499"/>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Implementation Timeline and Financial Targets</a:t>
            </a:r>
            <a:endParaRPr lang="en-US" sz="3550" dirty="0"/>
          </a:p>
        </p:txBody>
      </p:sp>
      <p:sp>
        <p:nvSpPr>
          <p:cNvPr id="3" name="Shape 1"/>
          <p:cNvSpPr/>
          <p:nvPr/>
        </p:nvSpPr>
        <p:spPr>
          <a:xfrm>
            <a:off x="4606409" y="1666875"/>
            <a:ext cx="22860" cy="5681067"/>
          </a:xfrm>
          <a:prstGeom prst="roundRect">
            <a:avLst>
              <a:gd name="adj" fmla="val 333087"/>
            </a:avLst>
          </a:prstGeom>
          <a:solidFill>
            <a:srgbClr val="C0C1D7"/>
          </a:solidFill>
          <a:ln/>
        </p:spPr>
      </p:sp>
      <p:sp>
        <p:nvSpPr>
          <p:cNvPr id="4" name="Shape 2"/>
          <p:cNvSpPr/>
          <p:nvPr/>
        </p:nvSpPr>
        <p:spPr>
          <a:xfrm>
            <a:off x="3892868" y="1859399"/>
            <a:ext cx="543878" cy="22860"/>
          </a:xfrm>
          <a:prstGeom prst="roundRect">
            <a:avLst>
              <a:gd name="adj" fmla="val 333087"/>
            </a:avLst>
          </a:prstGeom>
          <a:solidFill>
            <a:srgbClr val="C0C1D7"/>
          </a:solidFill>
          <a:ln/>
        </p:spPr>
      </p:sp>
      <p:sp>
        <p:nvSpPr>
          <p:cNvPr id="5" name="Shape 3"/>
          <p:cNvSpPr/>
          <p:nvPr/>
        </p:nvSpPr>
        <p:spPr>
          <a:xfrm>
            <a:off x="4413885" y="1666875"/>
            <a:ext cx="407908" cy="407908"/>
          </a:xfrm>
          <a:prstGeom prst="roundRect">
            <a:avLst>
              <a:gd name="adj" fmla="val 18667"/>
            </a:avLst>
          </a:prstGeom>
          <a:solidFill>
            <a:srgbClr val="DADBF1"/>
          </a:solidFill>
          <a:ln w="7620">
            <a:solidFill>
              <a:srgbClr val="C0C1D7"/>
            </a:solidFill>
            <a:prstDash val="solid"/>
          </a:ln>
        </p:spPr>
      </p:sp>
      <p:sp>
        <p:nvSpPr>
          <p:cNvPr id="6" name="Text 4"/>
          <p:cNvSpPr/>
          <p:nvPr/>
        </p:nvSpPr>
        <p:spPr>
          <a:xfrm>
            <a:off x="4481870" y="1700867"/>
            <a:ext cx="271939" cy="339923"/>
          </a:xfrm>
          <a:prstGeom prst="rect">
            <a:avLst/>
          </a:prstGeom>
          <a:noFill/>
          <a:ln/>
        </p:spPr>
        <p:txBody>
          <a:bodyPr wrap="none" lIns="0" tIns="0" rIns="0" bIns="0" rtlCol="0" anchor="t"/>
          <a:lstStyle/>
          <a:p>
            <a:pPr marL="0" indent="0" algn="ctr">
              <a:lnSpc>
                <a:spcPts val="2100"/>
              </a:lnSpc>
              <a:buNone/>
            </a:pPr>
            <a:r>
              <a:rPr lang="en-US" sz="2100" b="1" dirty="0">
                <a:solidFill>
                  <a:srgbClr val="272525"/>
                </a:solidFill>
                <a:latin typeface="Inter Bold" pitchFamily="34" charset="0"/>
                <a:ea typeface="Inter Bold" pitchFamily="34" charset="-122"/>
                <a:cs typeface="Inter Bold" pitchFamily="34" charset="-120"/>
              </a:rPr>
              <a:t>1</a:t>
            </a:r>
            <a:endParaRPr lang="en-US" sz="2100" dirty="0"/>
          </a:p>
        </p:txBody>
      </p:sp>
      <p:sp>
        <p:nvSpPr>
          <p:cNvPr id="7" name="Text 5"/>
          <p:cNvSpPr/>
          <p:nvPr/>
        </p:nvSpPr>
        <p:spPr>
          <a:xfrm>
            <a:off x="793075" y="1729145"/>
            <a:ext cx="2918341" cy="566261"/>
          </a:xfrm>
          <a:prstGeom prst="rect">
            <a:avLst/>
          </a:prstGeom>
          <a:noFill/>
          <a:ln/>
        </p:spPr>
        <p:txBody>
          <a:bodyPr wrap="square" lIns="0" tIns="0" rIns="0" bIns="0" rtlCol="0" anchor="t"/>
          <a:lstStyle/>
          <a:p>
            <a:pPr marL="0" indent="0" algn="r">
              <a:lnSpc>
                <a:spcPts val="2200"/>
              </a:lnSpc>
              <a:buNone/>
            </a:pPr>
            <a:r>
              <a:rPr lang="en-US" sz="1750" b="1" dirty="0">
                <a:solidFill>
                  <a:srgbClr val="272525"/>
                </a:solidFill>
                <a:latin typeface="Inter Bold" pitchFamily="34" charset="0"/>
                <a:ea typeface="Inter Bold" pitchFamily="34" charset="-122"/>
                <a:cs typeface="Inter Bold" pitchFamily="34" charset="-120"/>
              </a:rPr>
              <a:t>Weeks 1–2: Baseline Analysis</a:t>
            </a:r>
            <a:endParaRPr lang="en-US" sz="1750" dirty="0"/>
          </a:p>
        </p:txBody>
      </p:sp>
      <p:sp>
        <p:nvSpPr>
          <p:cNvPr id="8" name="Text 6"/>
          <p:cNvSpPr/>
          <p:nvPr/>
        </p:nvSpPr>
        <p:spPr>
          <a:xfrm>
            <a:off x="793075" y="2476619"/>
            <a:ext cx="2918341" cy="870109"/>
          </a:xfrm>
          <a:prstGeom prst="rect">
            <a:avLst/>
          </a:prstGeom>
          <a:noFill/>
          <a:ln/>
        </p:spPr>
        <p:txBody>
          <a:bodyPr wrap="square" lIns="0" tIns="0" rIns="0" bIns="0" rtlCol="0" anchor="t"/>
          <a:lstStyle/>
          <a:p>
            <a:pPr marL="0" indent="0" algn="r">
              <a:lnSpc>
                <a:spcPts val="2250"/>
              </a:lnSpc>
              <a:buNone/>
            </a:pPr>
            <a:r>
              <a:rPr lang="en-US" sz="1600" dirty="0">
                <a:solidFill>
                  <a:srgbClr val="272525"/>
                </a:solidFill>
                <a:latin typeface="Inter" pitchFamily="34" charset="0"/>
                <a:ea typeface="Inter" pitchFamily="34" charset="-122"/>
                <a:cs typeface="Inter" pitchFamily="34" charset="-120"/>
              </a:rPr>
              <a:t>Data collection and comprehensive system evaluation of current coating operations</a:t>
            </a:r>
            <a:endParaRPr lang="en-US" sz="1600" dirty="0"/>
          </a:p>
        </p:txBody>
      </p:sp>
      <p:sp>
        <p:nvSpPr>
          <p:cNvPr id="9" name="Shape 7"/>
          <p:cNvSpPr/>
          <p:nvPr/>
        </p:nvSpPr>
        <p:spPr>
          <a:xfrm>
            <a:off x="4798933" y="2947035"/>
            <a:ext cx="543878" cy="22860"/>
          </a:xfrm>
          <a:prstGeom prst="roundRect">
            <a:avLst>
              <a:gd name="adj" fmla="val 333087"/>
            </a:avLst>
          </a:prstGeom>
          <a:solidFill>
            <a:srgbClr val="C0C1D7"/>
          </a:solidFill>
          <a:ln/>
        </p:spPr>
      </p:sp>
      <p:sp>
        <p:nvSpPr>
          <p:cNvPr id="10" name="Shape 8"/>
          <p:cNvSpPr/>
          <p:nvPr/>
        </p:nvSpPr>
        <p:spPr>
          <a:xfrm>
            <a:off x="4413885" y="2754511"/>
            <a:ext cx="407908" cy="407908"/>
          </a:xfrm>
          <a:prstGeom prst="roundRect">
            <a:avLst>
              <a:gd name="adj" fmla="val 18667"/>
            </a:avLst>
          </a:prstGeom>
          <a:solidFill>
            <a:srgbClr val="DADBF1"/>
          </a:solidFill>
          <a:ln w="7620">
            <a:solidFill>
              <a:srgbClr val="C0C1D7"/>
            </a:solidFill>
            <a:prstDash val="solid"/>
          </a:ln>
        </p:spPr>
      </p:sp>
      <p:sp>
        <p:nvSpPr>
          <p:cNvPr id="11" name="Text 9"/>
          <p:cNvSpPr/>
          <p:nvPr/>
        </p:nvSpPr>
        <p:spPr>
          <a:xfrm>
            <a:off x="4481870" y="2788503"/>
            <a:ext cx="271939" cy="339923"/>
          </a:xfrm>
          <a:prstGeom prst="rect">
            <a:avLst/>
          </a:prstGeom>
          <a:noFill/>
          <a:ln/>
        </p:spPr>
        <p:txBody>
          <a:bodyPr wrap="none" lIns="0" tIns="0" rIns="0" bIns="0" rtlCol="0" anchor="t"/>
          <a:lstStyle/>
          <a:p>
            <a:pPr marL="0" indent="0" algn="ctr">
              <a:lnSpc>
                <a:spcPts val="2100"/>
              </a:lnSpc>
              <a:buNone/>
            </a:pPr>
            <a:r>
              <a:rPr lang="en-US" sz="2100" b="1" dirty="0">
                <a:solidFill>
                  <a:srgbClr val="272525"/>
                </a:solidFill>
                <a:latin typeface="Inter Bold" pitchFamily="34" charset="0"/>
                <a:ea typeface="Inter Bold" pitchFamily="34" charset="-122"/>
                <a:cs typeface="Inter Bold" pitchFamily="34" charset="-120"/>
              </a:rPr>
              <a:t>2</a:t>
            </a:r>
            <a:endParaRPr lang="en-US" sz="2100" dirty="0"/>
          </a:p>
        </p:txBody>
      </p:sp>
      <p:sp>
        <p:nvSpPr>
          <p:cNvPr id="12" name="Text 10"/>
          <p:cNvSpPr/>
          <p:nvPr/>
        </p:nvSpPr>
        <p:spPr>
          <a:xfrm>
            <a:off x="5524262" y="2816781"/>
            <a:ext cx="2918460" cy="566261"/>
          </a:xfrm>
          <a:prstGeom prst="rect">
            <a:avLst/>
          </a:prstGeom>
          <a:noFill/>
          <a:ln/>
        </p:spPr>
        <p:txBody>
          <a:bodyPr wrap="squar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Weeks 3–4: Process Modeling</a:t>
            </a:r>
            <a:endParaRPr lang="en-US" sz="1750" dirty="0"/>
          </a:p>
        </p:txBody>
      </p:sp>
      <p:sp>
        <p:nvSpPr>
          <p:cNvPr id="13" name="Text 11"/>
          <p:cNvSpPr/>
          <p:nvPr/>
        </p:nvSpPr>
        <p:spPr>
          <a:xfrm>
            <a:off x="5524262" y="3564255"/>
            <a:ext cx="2918460" cy="580073"/>
          </a:xfrm>
          <a:prstGeom prst="rect">
            <a:avLst/>
          </a:prstGeom>
          <a:noFill/>
          <a:ln/>
        </p:spPr>
        <p:txBody>
          <a:bodyPr wrap="square" lIns="0" tIns="0" rIns="0" bIns="0" rtlCol="0" anchor="t"/>
          <a:lstStyle/>
          <a:p>
            <a:pPr marL="0" indent="0" algn="l">
              <a:lnSpc>
                <a:spcPts val="2250"/>
              </a:lnSpc>
              <a:buNone/>
            </a:pPr>
            <a:r>
              <a:rPr lang="en-US" sz="1600" dirty="0">
                <a:solidFill>
                  <a:srgbClr val="272525"/>
                </a:solidFill>
                <a:latin typeface="Inter" pitchFamily="34" charset="0"/>
                <a:ea typeface="Inter" pitchFamily="34" charset="-122"/>
                <a:cs typeface="Inter" pitchFamily="34" charset="-120"/>
              </a:rPr>
              <a:t>JaamSim simulation development for optimization analysis</a:t>
            </a:r>
            <a:endParaRPr lang="en-US" sz="1600" dirty="0"/>
          </a:p>
        </p:txBody>
      </p:sp>
      <p:sp>
        <p:nvSpPr>
          <p:cNvPr id="14" name="Shape 12"/>
          <p:cNvSpPr/>
          <p:nvPr/>
        </p:nvSpPr>
        <p:spPr>
          <a:xfrm>
            <a:off x="3892868" y="3901797"/>
            <a:ext cx="543878" cy="22860"/>
          </a:xfrm>
          <a:prstGeom prst="roundRect">
            <a:avLst>
              <a:gd name="adj" fmla="val 333087"/>
            </a:avLst>
          </a:prstGeom>
          <a:solidFill>
            <a:srgbClr val="C0C1D7"/>
          </a:solidFill>
          <a:ln/>
        </p:spPr>
      </p:sp>
      <p:sp>
        <p:nvSpPr>
          <p:cNvPr id="15" name="Shape 13"/>
          <p:cNvSpPr/>
          <p:nvPr/>
        </p:nvSpPr>
        <p:spPr>
          <a:xfrm>
            <a:off x="4413885" y="3709273"/>
            <a:ext cx="407908" cy="407908"/>
          </a:xfrm>
          <a:prstGeom prst="roundRect">
            <a:avLst>
              <a:gd name="adj" fmla="val 18667"/>
            </a:avLst>
          </a:prstGeom>
          <a:solidFill>
            <a:srgbClr val="DADBF1"/>
          </a:solidFill>
          <a:ln w="7620">
            <a:solidFill>
              <a:srgbClr val="C0C1D7"/>
            </a:solidFill>
            <a:prstDash val="solid"/>
          </a:ln>
        </p:spPr>
      </p:sp>
      <p:sp>
        <p:nvSpPr>
          <p:cNvPr id="16" name="Text 14"/>
          <p:cNvSpPr/>
          <p:nvPr/>
        </p:nvSpPr>
        <p:spPr>
          <a:xfrm>
            <a:off x="4481870" y="3743265"/>
            <a:ext cx="271939" cy="339923"/>
          </a:xfrm>
          <a:prstGeom prst="rect">
            <a:avLst/>
          </a:prstGeom>
          <a:noFill/>
          <a:ln/>
        </p:spPr>
        <p:txBody>
          <a:bodyPr wrap="none" lIns="0" tIns="0" rIns="0" bIns="0" rtlCol="0" anchor="t"/>
          <a:lstStyle/>
          <a:p>
            <a:pPr marL="0" indent="0" algn="ctr">
              <a:lnSpc>
                <a:spcPts val="2100"/>
              </a:lnSpc>
              <a:buNone/>
            </a:pPr>
            <a:r>
              <a:rPr lang="en-US" sz="2100" b="1" dirty="0">
                <a:solidFill>
                  <a:srgbClr val="272525"/>
                </a:solidFill>
                <a:latin typeface="Inter Bold" pitchFamily="34" charset="0"/>
                <a:ea typeface="Inter Bold" pitchFamily="34" charset="-122"/>
                <a:cs typeface="Inter Bold" pitchFamily="34" charset="-120"/>
              </a:rPr>
              <a:t>3</a:t>
            </a:r>
            <a:endParaRPr lang="en-US" sz="2100" dirty="0"/>
          </a:p>
        </p:txBody>
      </p:sp>
      <p:sp>
        <p:nvSpPr>
          <p:cNvPr id="17" name="Text 15"/>
          <p:cNvSpPr/>
          <p:nvPr/>
        </p:nvSpPr>
        <p:spPr>
          <a:xfrm>
            <a:off x="793075" y="3771543"/>
            <a:ext cx="2918341" cy="566261"/>
          </a:xfrm>
          <a:prstGeom prst="rect">
            <a:avLst/>
          </a:prstGeom>
          <a:noFill/>
          <a:ln/>
        </p:spPr>
        <p:txBody>
          <a:bodyPr wrap="square" lIns="0" tIns="0" rIns="0" bIns="0" rtlCol="0" anchor="t"/>
          <a:lstStyle/>
          <a:p>
            <a:pPr marL="0" indent="0" algn="r">
              <a:lnSpc>
                <a:spcPts val="2200"/>
              </a:lnSpc>
              <a:buNone/>
            </a:pPr>
            <a:r>
              <a:rPr lang="en-US" sz="1750" b="1" dirty="0">
                <a:solidFill>
                  <a:srgbClr val="272525"/>
                </a:solidFill>
                <a:latin typeface="Inter Bold" pitchFamily="34" charset="0"/>
                <a:ea typeface="Inter Bold" pitchFamily="34" charset="-122"/>
                <a:cs typeface="Inter Bold" pitchFamily="34" charset="-120"/>
              </a:rPr>
              <a:t>Weeks 5–6: Reliability Assessment</a:t>
            </a:r>
            <a:endParaRPr lang="en-US" sz="1750" dirty="0"/>
          </a:p>
        </p:txBody>
      </p:sp>
      <p:sp>
        <p:nvSpPr>
          <p:cNvPr id="18" name="Text 16"/>
          <p:cNvSpPr/>
          <p:nvPr/>
        </p:nvSpPr>
        <p:spPr>
          <a:xfrm>
            <a:off x="793075" y="4519017"/>
            <a:ext cx="2918341" cy="870109"/>
          </a:xfrm>
          <a:prstGeom prst="rect">
            <a:avLst/>
          </a:prstGeom>
          <a:noFill/>
          <a:ln/>
        </p:spPr>
        <p:txBody>
          <a:bodyPr wrap="square" lIns="0" tIns="0" rIns="0" bIns="0" rtlCol="0" anchor="t"/>
          <a:lstStyle/>
          <a:p>
            <a:pPr marL="0" indent="0" algn="r">
              <a:lnSpc>
                <a:spcPts val="2250"/>
              </a:lnSpc>
              <a:buNone/>
            </a:pPr>
            <a:r>
              <a:rPr lang="en-US" sz="1600" dirty="0">
                <a:solidFill>
                  <a:srgbClr val="272525"/>
                </a:solidFill>
                <a:latin typeface="Inter" pitchFamily="34" charset="0"/>
                <a:ea typeface="Inter" pitchFamily="34" charset="-122"/>
                <a:cs typeface="Inter" pitchFamily="34" charset="-120"/>
              </a:rPr>
              <a:t>Predictive maintenance analysis and performance metrics establishment</a:t>
            </a:r>
            <a:endParaRPr lang="en-US" sz="1600" dirty="0"/>
          </a:p>
        </p:txBody>
      </p:sp>
      <p:sp>
        <p:nvSpPr>
          <p:cNvPr id="19" name="Shape 17"/>
          <p:cNvSpPr/>
          <p:nvPr/>
        </p:nvSpPr>
        <p:spPr>
          <a:xfrm>
            <a:off x="4798933" y="4922996"/>
            <a:ext cx="543878" cy="22860"/>
          </a:xfrm>
          <a:prstGeom prst="roundRect">
            <a:avLst>
              <a:gd name="adj" fmla="val 333087"/>
            </a:avLst>
          </a:prstGeom>
          <a:solidFill>
            <a:srgbClr val="C0C1D7"/>
          </a:solidFill>
          <a:ln/>
        </p:spPr>
      </p:sp>
      <p:sp>
        <p:nvSpPr>
          <p:cNvPr id="20" name="Shape 18"/>
          <p:cNvSpPr/>
          <p:nvPr/>
        </p:nvSpPr>
        <p:spPr>
          <a:xfrm>
            <a:off x="4413885" y="4730472"/>
            <a:ext cx="407908" cy="407908"/>
          </a:xfrm>
          <a:prstGeom prst="roundRect">
            <a:avLst>
              <a:gd name="adj" fmla="val 18667"/>
            </a:avLst>
          </a:prstGeom>
          <a:solidFill>
            <a:srgbClr val="DADBF1"/>
          </a:solidFill>
          <a:ln w="7620">
            <a:solidFill>
              <a:srgbClr val="C0C1D7"/>
            </a:solidFill>
            <a:prstDash val="solid"/>
          </a:ln>
        </p:spPr>
      </p:sp>
      <p:sp>
        <p:nvSpPr>
          <p:cNvPr id="21" name="Text 19"/>
          <p:cNvSpPr/>
          <p:nvPr/>
        </p:nvSpPr>
        <p:spPr>
          <a:xfrm>
            <a:off x="4481870" y="4764465"/>
            <a:ext cx="271939" cy="339923"/>
          </a:xfrm>
          <a:prstGeom prst="rect">
            <a:avLst/>
          </a:prstGeom>
          <a:noFill/>
          <a:ln/>
        </p:spPr>
        <p:txBody>
          <a:bodyPr wrap="none" lIns="0" tIns="0" rIns="0" bIns="0" rtlCol="0" anchor="t"/>
          <a:lstStyle/>
          <a:p>
            <a:pPr marL="0" indent="0" algn="ctr">
              <a:lnSpc>
                <a:spcPts val="2100"/>
              </a:lnSpc>
              <a:buNone/>
            </a:pPr>
            <a:r>
              <a:rPr lang="en-US" sz="2100" b="1" dirty="0">
                <a:solidFill>
                  <a:srgbClr val="272525"/>
                </a:solidFill>
                <a:latin typeface="Inter Bold" pitchFamily="34" charset="0"/>
                <a:ea typeface="Inter Bold" pitchFamily="34" charset="-122"/>
                <a:cs typeface="Inter Bold" pitchFamily="34" charset="-120"/>
              </a:rPr>
              <a:t>4</a:t>
            </a:r>
            <a:endParaRPr lang="en-US" sz="2100" dirty="0"/>
          </a:p>
        </p:txBody>
      </p:sp>
      <p:sp>
        <p:nvSpPr>
          <p:cNvPr id="22" name="Text 20"/>
          <p:cNvSpPr/>
          <p:nvPr/>
        </p:nvSpPr>
        <p:spPr>
          <a:xfrm>
            <a:off x="5524262" y="4792742"/>
            <a:ext cx="2918460" cy="566261"/>
          </a:xfrm>
          <a:prstGeom prst="rect">
            <a:avLst/>
          </a:prstGeom>
          <a:noFill/>
          <a:ln/>
        </p:spPr>
        <p:txBody>
          <a:bodyPr wrap="squar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Weeks 7–8: Financial Analysis</a:t>
            </a:r>
            <a:endParaRPr lang="en-US" sz="1750" dirty="0"/>
          </a:p>
        </p:txBody>
      </p:sp>
      <p:sp>
        <p:nvSpPr>
          <p:cNvPr id="23" name="Text 21"/>
          <p:cNvSpPr/>
          <p:nvPr/>
        </p:nvSpPr>
        <p:spPr>
          <a:xfrm>
            <a:off x="5524262" y="5540216"/>
            <a:ext cx="2918460" cy="870109"/>
          </a:xfrm>
          <a:prstGeom prst="rect">
            <a:avLst/>
          </a:prstGeom>
          <a:noFill/>
          <a:ln/>
        </p:spPr>
        <p:txBody>
          <a:bodyPr wrap="square" lIns="0" tIns="0" rIns="0" bIns="0" rtlCol="0" anchor="t"/>
          <a:lstStyle/>
          <a:p>
            <a:pPr marL="0" indent="0" algn="l">
              <a:lnSpc>
                <a:spcPts val="2250"/>
              </a:lnSpc>
              <a:buNone/>
            </a:pPr>
            <a:r>
              <a:rPr lang="en-US" sz="1600" dirty="0">
                <a:solidFill>
                  <a:srgbClr val="272525"/>
                </a:solidFill>
                <a:latin typeface="Inter" pitchFamily="34" charset="0"/>
                <a:ea typeface="Inter" pitchFamily="34" charset="-122"/>
                <a:cs typeface="Inter" pitchFamily="34" charset="-120"/>
              </a:rPr>
              <a:t>ROI calculation and comprehensive cost-benefit evaluation</a:t>
            </a:r>
            <a:endParaRPr lang="en-US" sz="1600" dirty="0"/>
          </a:p>
        </p:txBody>
      </p:sp>
      <p:sp>
        <p:nvSpPr>
          <p:cNvPr id="24" name="Shape 22"/>
          <p:cNvSpPr/>
          <p:nvPr/>
        </p:nvSpPr>
        <p:spPr>
          <a:xfrm>
            <a:off x="3892868" y="5944195"/>
            <a:ext cx="543878" cy="22860"/>
          </a:xfrm>
          <a:prstGeom prst="roundRect">
            <a:avLst>
              <a:gd name="adj" fmla="val 333087"/>
            </a:avLst>
          </a:prstGeom>
          <a:solidFill>
            <a:srgbClr val="C0C1D7"/>
          </a:solidFill>
          <a:ln/>
        </p:spPr>
      </p:sp>
      <p:sp>
        <p:nvSpPr>
          <p:cNvPr id="25" name="Shape 23"/>
          <p:cNvSpPr/>
          <p:nvPr/>
        </p:nvSpPr>
        <p:spPr>
          <a:xfrm>
            <a:off x="4413885" y="5751671"/>
            <a:ext cx="407908" cy="407908"/>
          </a:xfrm>
          <a:prstGeom prst="roundRect">
            <a:avLst>
              <a:gd name="adj" fmla="val 18667"/>
            </a:avLst>
          </a:prstGeom>
          <a:solidFill>
            <a:srgbClr val="DADBF1"/>
          </a:solidFill>
          <a:ln w="7620">
            <a:solidFill>
              <a:srgbClr val="C0C1D7"/>
            </a:solidFill>
            <a:prstDash val="solid"/>
          </a:ln>
        </p:spPr>
      </p:sp>
      <p:sp>
        <p:nvSpPr>
          <p:cNvPr id="26" name="Text 24"/>
          <p:cNvSpPr/>
          <p:nvPr/>
        </p:nvSpPr>
        <p:spPr>
          <a:xfrm>
            <a:off x="4481870" y="5785664"/>
            <a:ext cx="271939" cy="339923"/>
          </a:xfrm>
          <a:prstGeom prst="rect">
            <a:avLst/>
          </a:prstGeom>
          <a:noFill/>
          <a:ln/>
        </p:spPr>
        <p:txBody>
          <a:bodyPr wrap="none" lIns="0" tIns="0" rIns="0" bIns="0" rtlCol="0" anchor="t"/>
          <a:lstStyle/>
          <a:p>
            <a:pPr marL="0" indent="0" algn="ctr">
              <a:lnSpc>
                <a:spcPts val="2100"/>
              </a:lnSpc>
              <a:buNone/>
            </a:pPr>
            <a:r>
              <a:rPr lang="en-US" sz="2100" b="1" dirty="0">
                <a:solidFill>
                  <a:srgbClr val="272525"/>
                </a:solidFill>
                <a:latin typeface="Inter Bold" pitchFamily="34" charset="0"/>
                <a:ea typeface="Inter Bold" pitchFamily="34" charset="-122"/>
                <a:cs typeface="Inter Bold" pitchFamily="34" charset="-120"/>
              </a:rPr>
              <a:t>5</a:t>
            </a:r>
            <a:endParaRPr lang="en-US" sz="2100" dirty="0"/>
          </a:p>
        </p:txBody>
      </p:sp>
      <p:sp>
        <p:nvSpPr>
          <p:cNvPr id="27" name="Text 25"/>
          <p:cNvSpPr/>
          <p:nvPr/>
        </p:nvSpPr>
        <p:spPr>
          <a:xfrm>
            <a:off x="871418" y="5813941"/>
            <a:ext cx="2839998" cy="283131"/>
          </a:xfrm>
          <a:prstGeom prst="rect">
            <a:avLst/>
          </a:prstGeom>
          <a:noFill/>
          <a:ln/>
        </p:spPr>
        <p:txBody>
          <a:bodyPr wrap="none" lIns="0" tIns="0" rIns="0" bIns="0" rtlCol="0" anchor="t"/>
          <a:lstStyle/>
          <a:p>
            <a:pPr marL="0" indent="0" algn="r">
              <a:lnSpc>
                <a:spcPts val="2200"/>
              </a:lnSpc>
              <a:buNone/>
            </a:pPr>
            <a:r>
              <a:rPr lang="en-US" sz="1750" b="1" dirty="0">
                <a:solidFill>
                  <a:srgbClr val="272525"/>
                </a:solidFill>
                <a:latin typeface="Inter Bold" pitchFamily="34" charset="0"/>
                <a:ea typeface="Inter Bold" pitchFamily="34" charset="-122"/>
                <a:cs typeface="Inter Bold" pitchFamily="34" charset="-120"/>
              </a:rPr>
              <a:t>Week 9+: Implementation</a:t>
            </a:r>
            <a:endParaRPr lang="en-US" sz="1750" dirty="0"/>
          </a:p>
        </p:txBody>
      </p:sp>
      <p:sp>
        <p:nvSpPr>
          <p:cNvPr id="28" name="Text 26"/>
          <p:cNvSpPr/>
          <p:nvPr/>
        </p:nvSpPr>
        <p:spPr>
          <a:xfrm>
            <a:off x="793075" y="6278285"/>
            <a:ext cx="2918341" cy="870109"/>
          </a:xfrm>
          <a:prstGeom prst="rect">
            <a:avLst/>
          </a:prstGeom>
          <a:noFill/>
          <a:ln/>
        </p:spPr>
        <p:txBody>
          <a:bodyPr wrap="square" lIns="0" tIns="0" rIns="0" bIns="0" rtlCol="0" anchor="t"/>
          <a:lstStyle/>
          <a:p>
            <a:pPr marL="0" indent="0" algn="r">
              <a:lnSpc>
                <a:spcPts val="2250"/>
              </a:lnSpc>
              <a:buNone/>
            </a:pPr>
            <a:r>
              <a:rPr lang="en-US" sz="1600" dirty="0">
                <a:solidFill>
                  <a:srgbClr val="272525"/>
                </a:solidFill>
                <a:latin typeface="Inter" pitchFamily="34" charset="0"/>
                <a:ea typeface="Inter" pitchFamily="34" charset="-122"/>
                <a:cs typeface="Inter" pitchFamily="34" charset="-120"/>
              </a:rPr>
              <a:t>Documentation, stakeholder approval, and full-scale deployment</a:t>
            </a:r>
            <a:endParaRPr lang="en-US" sz="1600" dirty="0"/>
          </a:p>
        </p:txBody>
      </p:sp>
      <p:sp>
        <p:nvSpPr>
          <p:cNvPr id="29" name="Text 27"/>
          <p:cNvSpPr/>
          <p:nvPr/>
        </p:nvSpPr>
        <p:spPr>
          <a:xfrm>
            <a:off x="8892540" y="1757482"/>
            <a:ext cx="4952286" cy="598170"/>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Inter Bold" pitchFamily="34" charset="0"/>
                <a:ea typeface="Inter Bold" pitchFamily="34" charset="-122"/>
                <a:cs typeface="Inter Bold" pitchFamily="34" charset="-120"/>
              </a:rPr>
              <a:t>₹21L</a:t>
            </a:r>
            <a:endParaRPr lang="en-US" sz="4700" dirty="0"/>
          </a:p>
        </p:txBody>
      </p:sp>
      <p:sp>
        <p:nvSpPr>
          <p:cNvPr id="30" name="Text 28"/>
          <p:cNvSpPr/>
          <p:nvPr/>
        </p:nvSpPr>
        <p:spPr>
          <a:xfrm>
            <a:off x="10235565" y="2582227"/>
            <a:ext cx="2266117" cy="283131"/>
          </a:xfrm>
          <a:prstGeom prst="rect">
            <a:avLst/>
          </a:prstGeom>
          <a:noFill/>
          <a:ln/>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Total Investment</a:t>
            </a:r>
            <a:endParaRPr lang="en-US" sz="1750" dirty="0"/>
          </a:p>
        </p:txBody>
      </p:sp>
      <p:sp>
        <p:nvSpPr>
          <p:cNvPr id="31" name="Text 29"/>
          <p:cNvSpPr/>
          <p:nvPr/>
        </p:nvSpPr>
        <p:spPr>
          <a:xfrm>
            <a:off x="8892540" y="3046571"/>
            <a:ext cx="4952286" cy="290036"/>
          </a:xfrm>
          <a:prstGeom prst="rect">
            <a:avLst/>
          </a:prstGeom>
          <a:noFill/>
          <a:ln/>
        </p:spPr>
        <p:txBody>
          <a:bodyPr wrap="none" lIns="0" tIns="0" rIns="0" bIns="0" rtlCol="0" anchor="t"/>
          <a:lstStyle/>
          <a:p>
            <a:pPr marL="0" indent="0" algn="ctr">
              <a:lnSpc>
                <a:spcPts val="2250"/>
              </a:lnSpc>
              <a:buNone/>
            </a:pPr>
            <a:r>
              <a:rPr lang="en-US" dirty="0">
                <a:solidFill>
                  <a:srgbClr val="272525"/>
                </a:solidFill>
                <a:latin typeface="Inter" pitchFamily="34" charset="0"/>
                <a:ea typeface="Inter" pitchFamily="34" charset="-122"/>
                <a:cs typeface="Inter" pitchFamily="34" charset="-120"/>
              </a:rPr>
              <a:t>Complete system implementation cost</a:t>
            </a:r>
            <a:endParaRPr lang="en-US" dirty="0"/>
          </a:p>
        </p:txBody>
      </p:sp>
      <p:sp>
        <p:nvSpPr>
          <p:cNvPr id="32" name="Text 30"/>
          <p:cNvSpPr/>
          <p:nvPr/>
        </p:nvSpPr>
        <p:spPr>
          <a:xfrm>
            <a:off x="8892540" y="3789759"/>
            <a:ext cx="4952286" cy="598170"/>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Inter Bold" pitchFamily="34" charset="0"/>
                <a:ea typeface="Inter Bold" pitchFamily="34" charset="-122"/>
                <a:cs typeface="Inter Bold" pitchFamily="34" charset="-120"/>
              </a:rPr>
              <a:t>₹12L</a:t>
            </a:r>
            <a:endParaRPr lang="en-US" sz="4700" dirty="0"/>
          </a:p>
        </p:txBody>
      </p:sp>
      <p:sp>
        <p:nvSpPr>
          <p:cNvPr id="33" name="Text 31"/>
          <p:cNvSpPr/>
          <p:nvPr/>
        </p:nvSpPr>
        <p:spPr>
          <a:xfrm>
            <a:off x="10235565" y="4614505"/>
            <a:ext cx="2266117" cy="283131"/>
          </a:xfrm>
          <a:prstGeom prst="rect">
            <a:avLst/>
          </a:prstGeom>
          <a:noFill/>
          <a:ln/>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Monthly Savings</a:t>
            </a:r>
            <a:endParaRPr lang="en-US" sz="1750" dirty="0"/>
          </a:p>
        </p:txBody>
      </p:sp>
      <p:sp>
        <p:nvSpPr>
          <p:cNvPr id="34" name="Text 32"/>
          <p:cNvSpPr/>
          <p:nvPr/>
        </p:nvSpPr>
        <p:spPr>
          <a:xfrm>
            <a:off x="8892540" y="5078849"/>
            <a:ext cx="4952286" cy="290036"/>
          </a:xfrm>
          <a:prstGeom prst="rect">
            <a:avLst/>
          </a:prstGeom>
          <a:noFill/>
          <a:ln/>
        </p:spPr>
        <p:txBody>
          <a:bodyPr wrap="none" lIns="0" tIns="0" rIns="0" bIns="0" rtlCol="0" anchor="t"/>
          <a:lstStyle/>
          <a:p>
            <a:pPr marL="0" indent="0" algn="ctr">
              <a:lnSpc>
                <a:spcPts val="2250"/>
              </a:lnSpc>
              <a:buNone/>
            </a:pPr>
            <a:r>
              <a:rPr lang="en-US" sz="1600" dirty="0">
                <a:solidFill>
                  <a:srgbClr val="272525"/>
                </a:solidFill>
                <a:latin typeface="Inter" pitchFamily="34" charset="0"/>
                <a:ea typeface="Inter" pitchFamily="34" charset="-122"/>
                <a:cs typeface="Inter" pitchFamily="34" charset="-120"/>
              </a:rPr>
              <a:t>Operational cost reduction</a:t>
            </a:r>
            <a:endParaRPr lang="en-US" sz="1600" dirty="0"/>
          </a:p>
        </p:txBody>
      </p:sp>
      <p:sp>
        <p:nvSpPr>
          <p:cNvPr id="35" name="Text 33"/>
          <p:cNvSpPr/>
          <p:nvPr/>
        </p:nvSpPr>
        <p:spPr>
          <a:xfrm>
            <a:off x="8892540" y="5822037"/>
            <a:ext cx="4952286" cy="598170"/>
          </a:xfrm>
          <a:prstGeom prst="rect">
            <a:avLst/>
          </a:prstGeom>
          <a:noFill/>
          <a:ln/>
        </p:spPr>
        <p:txBody>
          <a:bodyPr wrap="none" lIns="0" tIns="0" rIns="0" bIns="0" rtlCol="0" anchor="t"/>
          <a:lstStyle/>
          <a:p>
            <a:pPr marL="0" indent="0" algn="ctr">
              <a:lnSpc>
                <a:spcPts val="4700"/>
              </a:lnSpc>
              <a:buNone/>
            </a:pPr>
            <a:r>
              <a:rPr lang="en-US" sz="4700" b="1" dirty="0">
                <a:solidFill>
                  <a:srgbClr val="272525"/>
                </a:solidFill>
                <a:latin typeface="Inter Bold" pitchFamily="34" charset="0"/>
                <a:ea typeface="Inter Bold" pitchFamily="34" charset="-122"/>
                <a:cs typeface="Inter Bold" pitchFamily="34" charset="-120"/>
              </a:rPr>
              <a:t>1.6</a:t>
            </a:r>
            <a:endParaRPr lang="en-US" sz="4700" dirty="0"/>
          </a:p>
        </p:txBody>
      </p:sp>
      <p:sp>
        <p:nvSpPr>
          <p:cNvPr id="36" name="Text 34"/>
          <p:cNvSpPr/>
          <p:nvPr/>
        </p:nvSpPr>
        <p:spPr>
          <a:xfrm>
            <a:off x="10235565" y="6646783"/>
            <a:ext cx="2266117" cy="283131"/>
          </a:xfrm>
          <a:prstGeom prst="rect">
            <a:avLst/>
          </a:prstGeom>
          <a:noFill/>
          <a:ln/>
        </p:spPr>
        <p:txBody>
          <a:bodyPr wrap="none" lIns="0" tIns="0" rIns="0" bIns="0" rtlCol="0" anchor="t"/>
          <a:lstStyle/>
          <a:p>
            <a:pPr marL="0" indent="0" algn="ctr">
              <a:lnSpc>
                <a:spcPts val="2200"/>
              </a:lnSpc>
              <a:buNone/>
            </a:pPr>
            <a:r>
              <a:rPr lang="en-US" sz="1750" b="1" dirty="0">
                <a:solidFill>
                  <a:srgbClr val="272525"/>
                </a:solidFill>
                <a:latin typeface="Inter Bold" pitchFamily="34" charset="0"/>
                <a:ea typeface="Inter Bold" pitchFamily="34" charset="-122"/>
                <a:cs typeface="Inter Bold" pitchFamily="34" charset="-120"/>
              </a:rPr>
              <a:t>Payback Period</a:t>
            </a:r>
            <a:endParaRPr lang="en-US" sz="1750" dirty="0"/>
          </a:p>
        </p:txBody>
      </p:sp>
      <p:sp>
        <p:nvSpPr>
          <p:cNvPr id="37" name="Text 35"/>
          <p:cNvSpPr/>
          <p:nvPr/>
        </p:nvSpPr>
        <p:spPr>
          <a:xfrm>
            <a:off x="8892540" y="7111127"/>
            <a:ext cx="4952286" cy="290036"/>
          </a:xfrm>
          <a:prstGeom prst="rect">
            <a:avLst/>
          </a:prstGeom>
          <a:noFill/>
          <a:ln/>
        </p:spPr>
        <p:txBody>
          <a:bodyPr wrap="none" lIns="0" tIns="0" rIns="0" bIns="0" rtlCol="0" anchor="t"/>
          <a:lstStyle/>
          <a:p>
            <a:pPr marL="0" indent="0" algn="ctr">
              <a:lnSpc>
                <a:spcPts val="2250"/>
              </a:lnSpc>
              <a:buNone/>
            </a:pPr>
            <a:r>
              <a:rPr lang="en-US" sz="1600" dirty="0">
                <a:solidFill>
                  <a:srgbClr val="272525"/>
                </a:solidFill>
                <a:latin typeface="Inter" pitchFamily="34" charset="0"/>
                <a:ea typeface="Inter" pitchFamily="34" charset="-122"/>
                <a:cs typeface="Inter" pitchFamily="34" charset="-120"/>
              </a:rPr>
              <a:t>Months to ROI achievement</a:t>
            </a:r>
            <a:endParaRPr lang="en-US" sz="1600" dirty="0"/>
          </a:p>
        </p:txBody>
      </p:sp>
      <p:sp>
        <p:nvSpPr>
          <p:cNvPr id="38" name="Rectangle 37">
            <a:extLst>
              <a:ext uri="{FF2B5EF4-FFF2-40B4-BE49-F238E27FC236}">
                <a16:creationId xmlns:a16="http://schemas.microsoft.com/office/drawing/2014/main" id="{13972466-86B2-279E-F9CD-5E8173C51E8C}"/>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7357" y="768072"/>
            <a:ext cx="7121247" cy="676275"/>
          </a:xfrm>
          <a:prstGeom prst="rect">
            <a:avLst/>
          </a:prstGeom>
          <a:noFill/>
          <a:ln/>
        </p:spPr>
        <p:txBody>
          <a:bodyPr wrap="none" lIns="0" tIns="0" rIns="0" bIns="0" rtlCol="0" anchor="t"/>
          <a:lstStyle/>
          <a:p>
            <a:pPr marL="0" indent="0" algn="l">
              <a:lnSpc>
                <a:spcPts val="5300"/>
              </a:lnSpc>
              <a:buNone/>
            </a:pPr>
            <a:r>
              <a:rPr lang="en-US" sz="4250" b="1" dirty="0">
                <a:solidFill>
                  <a:srgbClr val="000000"/>
                </a:solidFill>
                <a:latin typeface="Inter Bold" pitchFamily="34" charset="0"/>
                <a:ea typeface="Inter Bold" pitchFamily="34" charset="-122"/>
                <a:cs typeface="Inter Bold" pitchFamily="34" charset="-120"/>
              </a:rPr>
              <a:t>Risk Management Strategy</a:t>
            </a:r>
            <a:endParaRPr lang="en-US" sz="4250" dirty="0"/>
          </a:p>
        </p:txBody>
      </p:sp>
      <p:sp>
        <p:nvSpPr>
          <p:cNvPr id="3" name="Shape 1"/>
          <p:cNvSpPr/>
          <p:nvPr/>
        </p:nvSpPr>
        <p:spPr>
          <a:xfrm>
            <a:off x="757357" y="1877139"/>
            <a:ext cx="4227671" cy="5584269"/>
          </a:xfrm>
          <a:prstGeom prst="roundRect">
            <a:avLst>
              <a:gd name="adj" fmla="val 3461"/>
            </a:avLst>
          </a:prstGeom>
          <a:solidFill>
            <a:srgbClr val="FFFFFF"/>
          </a:solidFill>
          <a:ln w="30480">
            <a:solidFill>
              <a:srgbClr val="C0C1D7"/>
            </a:solidFill>
            <a:prstDash val="solid"/>
          </a:ln>
        </p:spPr>
      </p:sp>
      <p:sp>
        <p:nvSpPr>
          <p:cNvPr id="4" name="Shape 2"/>
          <p:cNvSpPr/>
          <p:nvPr/>
        </p:nvSpPr>
        <p:spPr>
          <a:xfrm>
            <a:off x="726877" y="1877139"/>
            <a:ext cx="121920" cy="5584269"/>
          </a:xfrm>
          <a:prstGeom prst="roundRect">
            <a:avLst>
              <a:gd name="adj" fmla="val 74550"/>
            </a:avLst>
          </a:prstGeom>
          <a:solidFill>
            <a:srgbClr val="4950BC"/>
          </a:solidFill>
          <a:ln/>
        </p:spPr>
      </p:sp>
      <p:sp>
        <p:nvSpPr>
          <p:cNvPr id="5" name="Text 3"/>
          <p:cNvSpPr/>
          <p:nvPr/>
        </p:nvSpPr>
        <p:spPr>
          <a:xfrm>
            <a:off x="1095613" y="2123956"/>
            <a:ext cx="3642598" cy="676275"/>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Risk: Inconsistent Baseline Data</a:t>
            </a:r>
            <a:endParaRPr lang="en-US" sz="2100" dirty="0"/>
          </a:p>
        </p:txBody>
      </p:sp>
      <p:sp>
        <p:nvSpPr>
          <p:cNvPr id="6" name="Text 4"/>
          <p:cNvSpPr/>
          <p:nvPr/>
        </p:nvSpPr>
        <p:spPr>
          <a:xfrm>
            <a:off x="1095613" y="2930009"/>
            <a:ext cx="3642598" cy="1731169"/>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Challenge:</a:t>
            </a:r>
            <a:r>
              <a:rPr lang="en-US" sz="1700" dirty="0">
                <a:solidFill>
                  <a:srgbClr val="272525"/>
                </a:solidFill>
                <a:latin typeface="Inter" pitchFamily="34" charset="0"/>
                <a:ea typeface="Inter" pitchFamily="34" charset="-122"/>
                <a:cs typeface="Inter" pitchFamily="34" charset="-120"/>
              </a:rPr>
              <a:t> Incomplete or inconsistent data on paint usage, downtime, or throughput may compromise analysis reliability and decision-making accuracy.</a:t>
            </a:r>
            <a:endParaRPr lang="en-US" sz="1700" dirty="0"/>
          </a:p>
        </p:txBody>
      </p:sp>
      <p:sp>
        <p:nvSpPr>
          <p:cNvPr id="7" name="Text 5"/>
          <p:cNvSpPr/>
          <p:nvPr/>
        </p:nvSpPr>
        <p:spPr>
          <a:xfrm>
            <a:off x="1095613" y="4790956"/>
            <a:ext cx="3642598" cy="2423636"/>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Mitigation:</a:t>
            </a:r>
            <a:r>
              <a:rPr lang="en-US" sz="1700" dirty="0">
                <a:solidFill>
                  <a:srgbClr val="272525"/>
                </a:solidFill>
                <a:latin typeface="Inter" pitchFamily="34" charset="0"/>
                <a:ea typeface="Inter" pitchFamily="34" charset="-122"/>
                <a:cs typeface="Inter" pitchFamily="34" charset="-120"/>
              </a:rPr>
              <a:t> Implement standardized data recording templates, conduct Gemba-based observations at production floor level, and validate all input data through cross-functional team reviews.</a:t>
            </a:r>
            <a:endParaRPr lang="en-US" sz="1700" dirty="0"/>
          </a:p>
        </p:txBody>
      </p:sp>
      <p:sp>
        <p:nvSpPr>
          <p:cNvPr id="8" name="Shape 6"/>
          <p:cNvSpPr/>
          <p:nvPr/>
        </p:nvSpPr>
        <p:spPr>
          <a:xfrm>
            <a:off x="5201364" y="1877139"/>
            <a:ext cx="4227671" cy="5584269"/>
          </a:xfrm>
          <a:prstGeom prst="roundRect">
            <a:avLst>
              <a:gd name="adj" fmla="val 3461"/>
            </a:avLst>
          </a:prstGeom>
          <a:solidFill>
            <a:srgbClr val="FFFFFF"/>
          </a:solidFill>
          <a:ln w="30480">
            <a:solidFill>
              <a:srgbClr val="C0C1D7"/>
            </a:solidFill>
            <a:prstDash val="solid"/>
          </a:ln>
        </p:spPr>
      </p:sp>
      <p:sp>
        <p:nvSpPr>
          <p:cNvPr id="9" name="Shape 7"/>
          <p:cNvSpPr/>
          <p:nvPr/>
        </p:nvSpPr>
        <p:spPr>
          <a:xfrm>
            <a:off x="5170884" y="1877139"/>
            <a:ext cx="121920" cy="5584269"/>
          </a:xfrm>
          <a:prstGeom prst="roundRect">
            <a:avLst>
              <a:gd name="adj" fmla="val 74550"/>
            </a:avLst>
          </a:prstGeom>
          <a:solidFill>
            <a:srgbClr val="4950BC"/>
          </a:solidFill>
          <a:ln/>
        </p:spPr>
      </p:sp>
      <p:sp>
        <p:nvSpPr>
          <p:cNvPr id="10" name="Text 8"/>
          <p:cNvSpPr/>
          <p:nvPr/>
        </p:nvSpPr>
        <p:spPr>
          <a:xfrm>
            <a:off x="5539621" y="2123956"/>
            <a:ext cx="3642598" cy="676275"/>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Risk: Unreliable Failure Predictions</a:t>
            </a:r>
            <a:endParaRPr lang="en-US" sz="2100" dirty="0"/>
          </a:p>
        </p:txBody>
      </p:sp>
      <p:sp>
        <p:nvSpPr>
          <p:cNvPr id="11" name="Text 9"/>
          <p:cNvSpPr/>
          <p:nvPr/>
        </p:nvSpPr>
        <p:spPr>
          <a:xfrm>
            <a:off x="5539621" y="2930009"/>
            <a:ext cx="3642598" cy="1731169"/>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Challenge:</a:t>
            </a:r>
            <a:r>
              <a:rPr lang="en-US" sz="1700" dirty="0">
                <a:solidFill>
                  <a:srgbClr val="272525"/>
                </a:solidFill>
                <a:latin typeface="Inter" pitchFamily="34" charset="0"/>
                <a:ea typeface="Inter" pitchFamily="34" charset="-122"/>
                <a:cs typeface="Inter" pitchFamily="34" charset="-120"/>
              </a:rPr>
              <a:t> Limited historical failure data could lead to overestimation or underestimation of Mean Time Between Failures (MTBF) and Mean Time To Repair (MTTR).</a:t>
            </a:r>
            <a:endParaRPr lang="en-US" sz="1700" dirty="0"/>
          </a:p>
        </p:txBody>
      </p:sp>
      <p:sp>
        <p:nvSpPr>
          <p:cNvPr id="12" name="Text 10"/>
          <p:cNvSpPr/>
          <p:nvPr/>
        </p:nvSpPr>
        <p:spPr>
          <a:xfrm>
            <a:off x="5539621" y="4790956"/>
            <a:ext cx="3642598" cy="2077403"/>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Mitigation:</a:t>
            </a:r>
            <a:r>
              <a:rPr lang="en-US" sz="1700" dirty="0">
                <a:solidFill>
                  <a:srgbClr val="272525"/>
                </a:solidFill>
                <a:latin typeface="Inter" pitchFamily="34" charset="0"/>
                <a:ea typeface="Inter" pitchFamily="34" charset="-122"/>
                <a:cs typeface="Inter" pitchFamily="34" charset="-120"/>
              </a:rPr>
              <a:t> Leverage industry benchmarks, update reliability metrics monthly based on actual performance, and calibrate predictive maintenance algorithms using real-time downtime logs.</a:t>
            </a:r>
            <a:endParaRPr lang="en-US" sz="1700" dirty="0"/>
          </a:p>
        </p:txBody>
      </p:sp>
      <p:sp>
        <p:nvSpPr>
          <p:cNvPr id="13" name="Shape 11"/>
          <p:cNvSpPr/>
          <p:nvPr/>
        </p:nvSpPr>
        <p:spPr>
          <a:xfrm>
            <a:off x="9645372" y="1877139"/>
            <a:ext cx="4227671" cy="5584269"/>
          </a:xfrm>
          <a:prstGeom prst="roundRect">
            <a:avLst>
              <a:gd name="adj" fmla="val 3461"/>
            </a:avLst>
          </a:prstGeom>
          <a:solidFill>
            <a:srgbClr val="FFFFFF"/>
          </a:solidFill>
          <a:ln w="30480">
            <a:solidFill>
              <a:srgbClr val="C0C1D7"/>
            </a:solidFill>
            <a:prstDash val="solid"/>
          </a:ln>
        </p:spPr>
      </p:sp>
      <p:sp>
        <p:nvSpPr>
          <p:cNvPr id="14" name="Shape 12"/>
          <p:cNvSpPr/>
          <p:nvPr/>
        </p:nvSpPr>
        <p:spPr>
          <a:xfrm>
            <a:off x="9614892" y="1877139"/>
            <a:ext cx="121920" cy="5584269"/>
          </a:xfrm>
          <a:prstGeom prst="roundRect">
            <a:avLst>
              <a:gd name="adj" fmla="val 74550"/>
            </a:avLst>
          </a:prstGeom>
          <a:solidFill>
            <a:srgbClr val="4950BC"/>
          </a:solidFill>
          <a:ln/>
        </p:spPr>
      </p:sp>
      <p:sp>
        <p:nvSpPr>
          <p:cNvPr id="15" name="Text 13"/>
          <p:cNvSpPr/>
          <p:nvPr/>
        </p:nvSpPr>
        <p:spPr>
          <a:xfrm>
            <a:off x="9983629" y="2123956"/>
            <a:ext cx="3642598" cy="676275"/>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Risk: Post-Implementation Issues</a:t>
            </a:r>
            <a:endParaRPr lang="en-US" sz="2100" dirty="0"/>
          </a:p>
        </p:txBody>
      </p:sp>
      <p:sp>
        <p:nvSpPr>
          <p:cNvPr id="16" name="Text 14"/>
          <p:cNvSpPr/>
          <p:nvPr/>
        </p:nvSpPr>
        <p:spPr>
          <a:xfrm>
            <a:off x="9983629" y="2930009"/>
            <a:ext cx="3642598" cy="1384935"/>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Challenge:</a:t>
            </a:r>
            <a:r>
              <a:rPr lang="en-US" sz="1700" dirty="0">
                <a:solidFill>
                  <a:srgbClr val="272525"/>
                </a:solidFill>
                <a:latin typeface="Inter" pitchFamily="34" charset="0"/>
                <a:ea typeface="Inter" pitchFamily="34" charset="-122"/>
                <a:cs typeface="Inter" pitchFamily="34" charset="-120"/>
              </a:rPr>
              <a:t> Unforeseen maintenance challenges or equipment performance issues after technology deployment.</a:t>
            </a:r>
            <a:endParaRPr lang="en-US" sz="1700" dirty="0"/>
          </a:p>
        </p:txBody>
      </p:sp>
      <p:sp>
        <p:nvSpPr>
          <p:cNvPr id="17" name="Text 15"/>
          <p:cNvSpPr/>
          <p:nvPr/>
        </p:nvSpPr>
        <p:spPr>
          <a:xfrm>
            <a:off x="9983629" y="4444722"/>
            <a:ext cx="3642598" cy="2077403"/>
          </a:xfrm>
          <a:prstGeom prst="rect">
            <a:avLst/>
          </a:prstGeom>
          <a:noFill/>
          <a:ln/>
        </p:spPr>
        <p:txBody>
          <a:bodyPr wrap="squar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Mitigation:</a:t>
            </a:r>
            <a:r>
              <a:rPr lang="en-US" sz="1700" dirty="0">
                <a:solidFill>
                  <a:srgbClr val="272525"/>
                </a:solidFill>
                <a:latin typeface="Inter" pitchFamily="34" charset="0"/>
                <a:ea typeface="Inter" pitchFamily="34" charset="-122"/>
                <a:cs typeface="Inter" pitchFamily="34" charset="-120"/>
              </a:rPr>
              <a:t> Establish robust preventive maintenance schedules, implement continuous monitoring systems with IoT sensors, and maintain close vendor support relationships.</a:t>
            </a:r>
            <a:endParaRPr lang="en-US" sz="1700" dirty="0"/>
          </a:p>
        </p:txBody>
      </p:sp>
      <p:sp>
        <p:nvSpPr>
          <p:cNvPr id="18" name="Rectangle 17">
            <a:extLst>
              <a:ext uri="{FF2B5EF4-FFF2-40B4-BE49-F238E27FC236}">
                <a16:creationId xmlns:a16="http://schemas.microsoft.com/office/drawing/2014/main" id="{D993B1F5-CAE5-8EAF-AF47-D1A3D486C7FD}"/>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1401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Methodology</a:t>
            </a:r>
            <a:endParaRPr lang="en-US" sz="4450" dirty="0"/>
          </a:p>
        </p:txBody>
      </p:sp>
      <p:pic>
        <p:nvPicPr>
          <p:cNvPr id="4" name="Image 1" descr="preencoded.png"/>
          <p:cNvPicPr>
            <a:picLocks noChangeAspect="1"/>
          </p:cNvPicPr>
          <p:nvPr/>
        </p:nvPicPr>
        <p:blipFill>
          <a:blip r:embed="rId4"/>
          <a:stretch>
            <a:fillRect/>
          </a:stretch>
        </p:blipFill>
        <p:spPr>
          <a:xfrm>
            <a:off x="793790" y="1762958"/>
            <a:ext cx="1134070" cy="1669852"/>
          </a:xfrm>
          <a:prstGeom prst="rect">
            <a:avLst/>
          </a:prstGeom>
        </p:spPr>
      </p:pic>
      <p:sp>
        <p:nvSpPr>
          <p:cNvPr id="5" name="Text 1"/>
          <p:cNvSpPr/>
          <p:nvPr/>
        </p:nvSpPr>
        <p:spPr>
          <a:xfrm>
            <a:off x="2154674" y="198977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Data Collection</a:t>
            </a:r>
            <a:endParaRPr lang="en-US" sz="2200" dirty="0"/>
          </a:p>
        </p:txBody>
      </p:sp>
      <p:sp>
        <p:nvSpPr>
          <p:cNvPr id="6" name="Text 2"/>
          <p:cNvSpPr/>
          <p:nvPr/>
        </p:nvSpPr>
        <p:spPr>
          <a:xfrm>
            <a:off x="2154674" y="2480191"/>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Comprehensive baseline measurement of current operations</a:t>
            </a:r>
            <a:endParaRPr lang="en-US" sz="1750" dirty="0"/>
          </a:p>
        </p:txBody>
      </p:sp>
      <p:pic>
        <p:nvPicPr>
          <p:cNvPr id="7" name="Image 2" descr="preencoded.png"/>
          <p:cNvPicPr>
            <a:picLocks noChangeAspect="1"/>
          </p:cNvPicPr>
          <p:nvPr/>
        </p:nvPicPr>
        <p:blipFill>
          <a:blip r:embed="rId5"/>
          <a:stretch>
            <a:fillRect/>
          </a:stretch>
        </p:blipFill>
        <p:spPr>
          <a:xfrm>
            <a:off x="793790" y="3432810"/>
            <a:ext cx="1134070" cy="1360884"/>
          </a:xfrm>
          <a:prstGeom prst="rect">
            <a:avLst/>
          </a:prstGeom>
        </p:spPr>
      </p:pic>
      <p:sp>
        <p:nvSpPr>
          <p:cNvPr id="8" name="Text 3"/>
          <p:cNvSpPr/>
          <p:nvPr/>
        </p:nvSpPr>
        <p:spPr>
          <a:xfrm>
            <a:off x="2154674" y="365962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Simulation Modeling</a:t>
            </a:r>
            <a:endParaRPr lang="en-US" sz="2200" dirty="0"/>
          </a:p>
        </p:txBody>
      </p:sp>
      <p:sp>
        <p:nvSpPr>
          <p:cNvPr id="9" name="Text 4"/>
          <p:cNvSpPr/>
          <p:nvPr/>
        </p:nvSpPr>
        <p:spPr>
          <a:xfrm>
            <a:off x="2154674" y="4150042"/>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JaamSim discrete event analysis for optimization</a:t>
            </a:r>
            <a:endParaRPr lang="en-US" sz="1750" dirty="0"/>
          </a:p>
        </p:txBody>
      </p:sp>
      <p:pic>
        <p:nvPicPr>
          <p:cNvPr id="10" name="Image 3" descr="preencoded.png"/>
          <p:cNvPicPr>
            <a:picLocks noChangeAspect="1"/>
          </p:cNvPicPr>
          <p:nvPr/>
        </p:nvPicPr>
        <p:blipFill>
          <a:blip r:embed="rId6"/>
          <a:stretch>
            <a:fillRect/>
          </a:stretch>
        </p:blipFill>
        <p:spPr>
          <a:xfrm>
            <a:off x="793790" y="4793694"/>
            <a:ext cx="1134070" cy="1360884"/>
          </a:xfrm>
          <a:prstGeom prst="rect">
            <a:avLst/>
          </a:prstGeom>
        </p:spPr>
      </p:pic>
      <p:sp>
        <p:nvSpPr>
          <p:cNvPr id="11" name="Text 5"/>
          <p:cNvSpPr/>
          <p:nvPr/>
        </p:nvSpPr>
        <p:spPr>
          <a:xfrm>
            <a:off x="2154674" y="5020508"/>
            <a:ext cx="326874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Predictive Maintenance</a:t>
            </a:r>
            <a:endParaRPr lang="en-US" sz="2200" dirty="0"/>
          </a:p>
        </p:txBody>
      </p:sp>
      <p:sp>
        <p:nvSpPr>
          <p:cNvPr id="12" name="Text 6"/>
          <p:cNvSpPr/>
          <p:nvPr/>
        </p:nvSpPr>
        <p:spPr>
          <a:xfrm>
            <a:off x="2154674" y="5510927"/>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Reliability analysis and downtime reduction strategies</a:t>
            </a:r>
            <a:endParaRPr lang="en-US" sz="1750" dirty="0"/>
          </a:p>
        </p:txBody>
      </p:sp>
      <p:pic>
        <p:nvPicPr>
          <p:cNvPr id="13" name="Image 4" descr="preencoded.png"/>
          <p:cNvPicPr>
            <a:picLocks noChangeAspect="1"/>
          </p:cNvPicPr>
          <p:nvPr/>
        </p:nvPicPr>
        <p:blipFill>
          <a:blip r:embed="rId7"/>
          <a:stretch>
            <a:fillRect/>
          </a:stretch>
        </p:blipFill>
        <p:spPr>
          <a:xfrm>
            <a:off x="793790" y="6154579"/>
            <a:ext cx="1134070" cy="1360884"/>
          </a:xfrm>
          <a:prstGeom prst="rect">
            <a:avLst/>
          </a:prstGeom>
        </p:spPr>
      </p:pic>
      <p:sp>
        <p:nvSpPr>
          <p:cNvPr id="14" name="Text 7"/>
          <p:cNvSpPr/>
          <p:nvPr/>
        </p:nvSpPr>
        <p:spPr>
          <a:xfrm>
            <a:off x="2154674" y="638139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Financial Analysis</a:t>
            </a:r>
            <a:endParaRPr lang="en-US" sz="2200" dirty="0"/>
          </a:p>
        </p:txBody>
      </p:sp>
      <p:sp>
        <p:nvSpPr>
          <p:cNvPr id="15" name="Text 8"/>
          <p:cNvSpPr/>
          <p:nvPr/>
        </p:nvSpPr>
        <p:spPr>
          <a:xfrm>
            <a:off x="2154674" y="6871811"/>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ROI calculation and cost-benefit assessment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50570"/>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Data Collection</a:t>
            </a:r>
            <a:endParaRPr lang="en-US" sz="3550" dirty="0"/>
          </a:p>
        </p:txBody>
      </p:sp>
      <p:sp>
        <p:nvSpPr>
          <p:cNvPr id="3" name="Text 1"/>
          <p:cNvSpPr/>
          <p:nvPr/>
        </p:nvSpPr>
        <p:spPr>
          <a:xfrm>
            <a:off x="793790" y="1680448"/>
            <a:ext cx="13042821" cy="870823"/>
          </a:xfrm>
          <a:prstGeom prst="rect">
            <a:avLst/>
          </a:prstGeom>
          <a:noFill/>
          <a:ln/>
        </p:spPr>
        <p:txBody>
          <a:bodyPr wrap="square" lIns="0" tIns="0" rIns="0" bIns="0" rtlCol="0" anchor="t"/>
          <a:lstStyle/>
          <a:p>
            <a:pPr marL="0" indent="0" algn="l">
              <a:lnSpc>
                <a:spcPts val="2250"/>
              </a:lnSpc>
              <a:buNone/>
            </a:pPr>
            <a:r>
              <a:rPr lang="en-US" sz="1600" dirty="0">
                <a:solidFill>
                  <a:srgbClr val="272525"/>
                </a:solidFill>
                <a:latin typeface="Inter" pitchFamily="34" charset="0"/>
                <a:ea typeface="Inter" pitchFamily="34" charset="-122"/>
                <a:cs typeface="Inter" pitchFamily="34" charset="-120"/>
              </a:rPr>
              <a:t>A detailed Gemba-based data collection was performed to establish the current operational baseline for the beverage bottle coating process. This table compares key performance indicators under the existing baseline against projected metrics with the implementation of the new automated electrostatic spray technology.</a:t>
            </a:r>
            <a:endParaRPr lang="en-US" sz="1600" dirty="0"/>
          </a:p>
        </p:txBody>
      </p:sp>
      <p:sp>
        <p:nvSpPr>
          <p:cNvPr id="4" name="Shape 2"/>
          <p:cNvSpPr/>
          <p:nvPr/>
        </p:nvSpPr>
        <p:spPr>
          <a:xfrm>
            <a:off x="793790" y="2755344"/>
            <a:ext cx="13042821" cy="4723686"/>
          </a:xfrm>
          <a:prstGeom prst="roundRect">
            <a:avLst>
              <a:gd name="adj" fmla="val 1613"/>
            </a:avLst>
          </a:prstGeom>
          <a:noFill/>
          <a:ln w="7620">
            <a:solidFill>
              <a:srgbClr val="000000">
                <a:alpha val="8000"/>
              </a:srgbClr>
            </a:solidFill>
            <a:prstDash val="solid"/>
          </a:ln>
        </p:spPr>
      </p:sp>
      <p:sp>
        <p:nvSpPr>
          <p:cNvPr id="5" name="Shape 3"/>
          <p:cNvSpPr/>
          <p:nvPr/>
        </p:nvSpPr>
        <p:spPr>
          <a:xfrm>
            <a:off x="801410" y="2762964"/>
            <a:ext cx="13027581" cy="523161"/>
          </a:xfrm>
          <a:prstGeom prst="rect">
            <a:avLst/>
          </a:prstGeom>
          <a:solidFill>
            <a:srgbClr val="FFFFFF">
              <a:alpha val="4000"/>
            </a:srgbClr>
          </a:solidFill>
          <a:ln/>
        </p:spPr>
      </p:sp>
      <p:sp>
        <p:nvSpPr>
          <p:cNvPr id="6" name="Text 4"/>
          <p:cNvSpPr/>
          <p:nvPr/>
        </p:nvSpPr>
        <p:spPr>
          <a:xfrm>
            <a:off x="983099" y="2879408"/>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Bottles/day</a:t>
            </a:r>
            <a:endParaRPr lang="en-US" sz="1400" dirty="0"/>
          </a:p>
        </p:txBody>
      </p:sp>
      <p:sp>
        <p:nvSpPr>
          <p:cNvPr id="7" name="Text 5"/>
          <p:cNvSpPr/>
          <p:nvPr/>
        </p:nvSpPr>
        <p:spPr>
          <a:xfrm>
            <a:off x="4895136" y="287940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90,000</a:t>
            </a:r>
            <a:endParaRPr lang="en-US" sz="1400" dirty="0"/>
          </a:p>
        </p:txBody>
      </p:sp>
      <p:sp>
        <p:nvSpPr>
          <p:cNvPr id="8" name="Text 6"/>
          <p:cNvSpPr/>
          <p:nvPr/>
        </p:nvSpPr>
        <p:spPr>
          <a:xfrm>
            <a:off x="7500580" y="287940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108,000</a:t>
            </a:r>
            <a:endParaRPr lang="en-US" sz="1400" dirty="0"/>
          </a:p>
        </p:txBody>
      </p:sp>
      <p:sp>
        <p:nvSpPr>
          <p:cNvPr id="9" name="Text 7"/>
          <p:cNvSpPr/>
          <p:nvPr/>
        </p:nvSpPr>
        <p:spPr>
          <a:xfrm>
            <a:off x="10106025" y="2879408"/>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bottles</a:t>
            </a:r>
            <a:endParaRPr lang="en-US" sz="1400" dirty="0"/>
          </a:p>
        </p:txBody>
      </p:sp>
      <p:sp>
        <p:nvSpPr>
          <p:cNvPr id="10" name="Shape 8"/>
          <p:cNvSpPr/>
          <p:nvPr/>
        </p:nvSpPr>
        <p:spPr>
          <a:xfrm>
            <a:off x="801410" y="3286125"/>
            <a:ext cx="13027581" cy="523161"/>
          </a:xfrm>
          <a:prstGeom prst="rect">
            <a:avLst/>
          </a:prstGeom>
          <a:solidFill>
            <a:srgbClr val="000000">
              <a:alpha val="4000"/>
            </a:srgbClr>
          </a:solidFill>
          <a:ln/>
        </p:spPr>
      </p:sp>
      <p:sp>
        <p:nvSpPr>
          <p:cNvPr id="11" name="Text 9"/>
          <p:cNvSpPr/>
          <p:nvPr/>
        </p:nvSpPr>
        <p:spPr>
          <a:xfrm>
            <a:off x="983099" y="3402568"/>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Inter-arrival time</a:t>
            </a:r>
            <a:endParaRPr lang="en-US" sz="1400" dirty="0"/>
          </a:p>
        </p:txBody>
      </p:sp>
      <p:sp>
        <p:nvSpPr>
          <p:cNvPr id="12" name="Text 10"/>
          <p:cNvSpPr/>
          <p:nvPr/>
        </p:nvSpPr>
        <p:spPr>
          <a:xfrm>
            <a:off x="4895136" y="340256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0.96</a:t>
            </a:r>
            <a:endParaRPr lang="en-US" sz="1400" dirty="0"/>
          </a:p>
        </p:txBody>
      </p:sp>
      <p:sp>
        <p:nvSpPr>
          <p:cNvPr id="13" name="Text 11"/>
          <p:cNvSpPr/>
          <p:nvPr/>
        </p:nvSpPr>
        <p:spPr>
          <a:xfrm>
            <a:off x="7500580" y="3402568"/>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0.80</a:t>
            </a:r>
            <a:endParaRPr lang="en-US" sz="1400" dirty="0"/>
          </a:p>
        </p:txBody>
      </p:sp>
      <p:sp>
        <p:nvSpPr>
          <p:cNvPr id="14" name="Text 12"/>
          <p:cNvSpPr/>
          <p:nvPr/>
        </p:nvSpPr>
        <p:spPr>
          <a:xfrm>
            <a:off x="10106025" y="3402568"/>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s</a:t>
            </a:r>
            <a:endParaRPr lang="en-US" sz="1400" dirty="0"/>
          </a:p>
        </p:txBody>
      </p:sp>
      <p:sp>
        <p:nvSpPr>
          <p:cNvPr id="15" name="Shape 13"/>
          <p:cNvSpPr/>
          <p:nvPr/>
        </p:nvSpPr>
        <p:spPr>
          <a:xfrm>
            <a:off x="801410" y="3809286"/>
            <a:ext cx="13027581" cy="523161"/>
          </a:xfrm>
          <a:prstGeom prst="rect">
            <a:avLst/>
          </a:prstGeom>
          <a:solidFill>
            <a:srgbClr val="FFFFFF">
              <a:alpha val="4000"/>
            </a:srgbClr>
          </a:solidFill>
          <a:ln/>
        </p:spPr>
      </p:sp>
      <p:sp>
        <p:nvSpPr>
          <p:cNvPr id="16" name="Text 14"/>
          <p:cNvSpPr/>
          <p:nvPr/>
        </p:nvSpPr>
        <p:spPr>
          <a:xfrm>
            <a:off x="983099" y="3925729"/>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Service time per bottle</a:t>
            </a:r>
            <a:endParaRPr lang="en-US" sz="1400" dirty="0"/>
          </a:p>
        </p:txBody>
      </p:sp>
      <p:sp>
        <p:nvSpPr>
          <p:cNvPr id="17" name="Text 15"/>
          <p:cNvSpPr/>
          <p:nvPr/>
        </p:nvSpPr>
        <p:spPr>
          <a:xfrm>
            <a:off x="4895136" y="392572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0.9</a:t>
            </a:r>
            <a:endParaRPr lang="en-US" sz="1400" dirty="0"/>
          </a:p>
        </p:txBody>
      </p:sp>
      <p:sp>
        <p:nvSpPr>
          <p:cNvPr id="18" name="Text 16"/>
          <p:cNvSpPr/>
          <p:nvPr/>
        </p:nvSpPr>
        <p:spPr>
          <a:xfrm>
            <a:off x="7500580" y="392572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0.72</a:t>
            </a:r>
            <a:endParaRPr lang="en-US" sz="1400" dirty="0"/>
          </a:p>
        </p:txBody>
      </p:sp>
      <p:sp>
        <p:nvSpPr>
          <p:cNvPr id="19" name="Text 17"/>
          <p:cNvSpPr/>
          <p:nvPr/>
        </p:nvSpPr>
        <p:spPr>
          <a:xfrm>
            <a:off x="10106025" y="3925729"/>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s</a:t>
            </a:r>
            <a:endParaRPr lang="en-US" sz="1400" dirty="0"/>
          </a:p>
        </p:txBody>
      </p:sp>
      <p:sp>
        <p:nvSpPr>
          <p:cNvPr id="20" name="Shape 18"/>
          <p:cNvSpPr/>
          <p:nvPr/>
        </p:nvSpPr>
        <p:spPr>
          <a:xfrm>
            <a:off x="801410" y="4332446"/>
            <a:ext cx="13027581" cy="523161"/>
          </a:xfrm>
          <a:prstGeom prst="rect">
            <a:avLst/>
          </a:prstGeom>
          <a:solidFill>
            <a:srgbClr val="000000">
              <a:alpha val="4000"/>
            </a:srgbClr>
          </a:solidFill>
          <a:ln/>
        </p:spPr>
      </p:sp>
      <p:sp>
        <p:nvSpPr>
          <p:cNvPr id="21" name="Text 19"/>
          <p:cNvSpPr/>
          <p:nvPr/>
        </p:nvSpPr>
        <p:spPr>
          <a:xfrm>
            <a:off x="983099" y="4448889"/>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MTBF</a:t>
            </a:r>
            <a:endParaRPr lang="en-US" sz="1400" dirty="0"/>
          </a:p>
        </p:txBody>
      </p:sp>
      <p:sp>
        <p:nvSpPr>
          <p:cNvPr id="22" name="Text 20"/>
          <p:cNvSpPr/>
          <p:nvPr/>
        </p:nvSpPr>
        <p:spPr>
          <a:xfrm>
            <a:off x="4895136" y="444888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4000</a:t>
            </a:r>
            <a:endParaRPr lang="en-US" sz="1400" dirty="0"/>
          </a:p>
        </p:txBody>
      </p:sp>
      <p:sp>
        <p:nvSpPr>
          <p:cNvPr id="23" name="Text 21"/>
          <p:cNvSpPr/>
          <p:nvPr/>
        </p:nvSpPr>
        <p:spPr>
          <a:xfrm>
            <a:off x="7500580" y="4448889"/>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6000</a:t>
            </a:r>
            <a:endParaRPr lang="en-US" sz="1400" dirty="0"/>
          </a:p>
        </p:txBody>
      </p:sp>
      <p:sp>
        <p:nvSpPr>
          <p:cNvPr id="24" name="Text 22"/>
          <p:cNvSpPr/>
          <p:nvPr/>
        </p:nvSpPr>
        <p:spPr>
          <a:xfrm>
            <a:off x="10106025" y="4448889"/>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hrs</a:t>
            </a:r>
            <a:endParaRPr lang="en-US" sz="1400" dirty="0"/>
          </a:p>
        </p:txBody>
      </p:sp>
      <p:sp>
        <p:nvSpPr>
          <p:cNvPr id="25" name="Shape 23"/>
          <p:cNvSpPr/>
          <p:nvPr/>
        </p:nvSpPr>
        <p:spPr>
          <a:xfrm>
            <a:off x="801410" y="4855607"/>
            <a:ext cx="13027581" cy="523161"/>
          </a:xfrm>
          <a:prstGeom prst="rect">
            <a:avLst/>
          </a:prstGeom>
          <a:solidFill>
            <a:srgbClr val="FFFFFF">
              <a:alpha val="4000"/>
            </a:srgbClr>
          </a:solidFill>
          <a:ln/>
        </p:spPr>
      </p:sp>
      <p:sp>
        <p:nvSpPr>
          <p:cNvPr id="26" name="Text 24"/>
          <p:cNvSpPr/>
          <p:nvPr/>
        </p:nvSpPr>
        <p:spPr>
          <a:xfrm>
            <a:off x="983099" y="4972050"/>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MTTR</a:t>
            </a:r>
            <a:endParaRPr lang="en-US" sz="1400" dirty="0"/>
          </a:p>
        </p:txBody>
      </p:sp>
      <p:sp>
        <p:nvSpPr>
          <p:cNvPr id="27" name="Text 25"/>
          <p:cNvSpPr/>
          <p:nvPr/>
        </p:nvSpPr>
        <p:spPr>
          <a:xfrm>
            <a:off x="4895136" y="497205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20</a:t>
            </a:r>
            <a:endParaRPr lang="en-US" sz="1400" dirty="0"/>
          </a:p>
        </p:txBody>
      </p:sp>
      <p:sp>
        <p:nvSpPr>
          <p:cNvPr id="28" name="Text 26"/>
          <p:cNvSpPr/>
          <p:nvPr/>
        </p:nvSpPr>
        <p:spPr>
          <a:xfrm>
            <a:off x="7500580" y="4972050"/>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12</a:t>
            </a:r>
            <a:endParaRPr lang="en-US" sz="1400" dirty="0"/>
          </a:p>
        </p:txBody>
      </p:sp>
      <p:sp>
        <p:nvSpPr>
          <p:cNvPr id="29" name="Text 27"/>
          <p:cNvSpPr/>
          <p:nvPr/>
        </p:nvSpPr>
        <p:spPr>
          <a:xfrm>
            <a:off x="10106025" y="4972050"/>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hrs</a:t>
            </a:r>
            <a:endParaRPr lang="en-US" sz="1400" dirty="0"/>
          </a:p>
        </p:txBody>
      </p:sp>
      <p:sp>
        <p:nvSpPr>
          <p:cNvPr id="30" name="Shape 28"/>
          <p:cNvSpPr/>
          <p:nvPr/>
        </p:nvSpPr>
        <p:spPr>
          <a:xfrm>
            <a:off x="801410" y="5378768"/>
            <a:ext cx="13027581" cy="523161"/>
          </a:xfrm>
          <a:prstGeom prst="rect">
            <a:avLst/>
          </a:prstGeom>
          <a:solidFill>
            <a:srgbClr val="000000">
              <a:alpha val="4000"/>
            </a:srgbClr>
          </a:solidFill>
          <a:ln/>
        </p:spPr>
      </p:sp>
      <p:sp>
        <p:nvSpPr>
          <p:cNvPr id="31" name="Text 29"/>
          <p:cNvSpPr/>
          <p:nvPr/>
        </p:nvSpPr>
        <p:spPr>
          <a:xfrm>
            <a:off x="983099" y="5495211"/>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Refill delay</a:t>
            </a:r>
            <a:endParaRPr lang="en-US" sz="1400" dirty="0"/>
          </a:p>
        </p:txBody>
      </p:sp>
      <p:sp>
        <p:nvSpPr>
          <p:cNvPr id="32" name="Text 30"/>
          <p:cNvSpPr/>
          <p:nvPr/>
        </p:nvSpPr>
        <p:spPr>
          <a:xfrm>
            <a:off x="4895136" y="549521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30 s every 1000 bottles</a:t>
            </a:r>
            <a:endParaRPr lang="en-US" sz="1400" dirty="0"/>
          </a:p>
        </p:txBody>
      </p:sp>
      <p:sp>
        <p:nvSpPr>
          <p:cNvPr id="33" name="Text 31"/>
          <p:cNvSpPr/>
          <p:nvPr/>
        </p:nvSpPr>
        <p:spPr>
          <a:xfrm>
            <a:off x="7500580" y="549521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None</a:t>
            </a:r>
            <a:endParaRPr lang="en-US" sz="1400" dirty="0"/>
          </a:p>
        </p:txBody>
      </p:sp>
      <p:sp>
        <p:nvSpPr>
          <p:cNvPr id="34" name="Text 32"/>
          <p:cNvSpPr/>
          <p:nvPr/>
        </p:nvSpPr>
        <p:spPr>
          <a:xfrm>
            <a:off x="10106025" y="5495211"/>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a:t>
            </a:r>
            <a:endParaRPr lang="en-US" sz="1400" dirty="0"/>
          </a:p>
        </p:txBody>
      </p:sp>
      <p:sp>
        <p:nvSpPr>
          <p:cNvPr id="35" name="Shape 33"/>
          <p:cNvSpPr/>
          <p:nvPr/>
        </p:nvSpPr>
        <p:spPr>
          <a:xfrm>
            <a:off x="801410" y="5901928"/>
            <a:ext cx="13027581" cy="523161"/>
          </a:xfrm>
          <a:prstGeom prst="rect">
            <a:avLst/>
          </a:prstGeom>
          <a:solidFill>
            <a:srgbClr val="FFFFFF">
              <a:alpha val="4000"/>
            </a:srgbClr>
          </a:solidFill>
          <a:ln/>
        </p:spPr>
      </p:sp>
      <p:sp>
        <p:nvSpPr>
          <p:cNvPr id="36" name="Text 34"/>
          <p:cNvSpPr/>
          <p:nvPr/>
        </p:nvSpPr>
        <p:spPr>
          <a:xfrm>
            <a:off x="983099" y="6018371"/>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Paint transfer efficiency</a:t>
            </a:r>
            <a:endParaRPr lang="en-US" sz="1400" dirty="0"/>
          </a:p>
        </p:txBody>
      </p:sp>
      <p:sp>
        <p:nvSpPr>
          <p:cNvPr id="37" name="Text 35"/>
          <p:cNvSpPr/>
          <p:nvPr/>
        </p:nvSpPr>
        <p:spPr>
          <a:xfrm>
            <a:off x="4895136" y="601837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70%</a:t>
            </a:r>
            <a:endParaRPr lang="en-US" sz="1400" dirty="0"/>
          </a:p>
        </p:txBody>
      </p:sp>
      <p:sp>
        <p:nvSpPr>
          <p:cNvPr id="38" name="Text 36"/>
          <p:cNvSpPr/>
          <p:nvPr/>
        </p:nvSpPr>
        <p:spPr>
          <a:xfrm>
            <a:off x="7500580" y="6018371"/>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88%</a:t>
            </a:r>
            <a:endParaRPr lang="en-US" sz="1400" dirty="0"/>
          </a:p>
        </p:txBody>
      </p:sp>
      <p:sp>
        <p:nvSpPr>
          <p:cNvPr id="39" name="Text 37"/>
          <p:cNvSpPr/>
          <p:nvPr/>
        </p:nvSpPr>
        <p:spPr>
          <a:xfrm>
            <a:off x="10106025" y="6018371"/>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a:t>
            </a:r>
            <a:endParaRPr lang="en-US" sz="1400" dirty="0"/>
          </a:p>
        </p:txBody>
      </p:sp>
      <p:sp>
        <p:nvSpPr>
          <p:cNvPr id="40" name="Shape 38"/>
          <p:cNvSpPr/>
          <p:nvPr/>
        </p:nvSpPr>
        <p:spPr>
          <a:xfrm>
            <a:off x="801410" y="6425089"/>
            <a:ext cx="13027581" cy="523161"/>
          </a:xfrm>
          <a:prstGeom prst="rect">
            <a:avLst/>
          </a:prstGeom>
          <a:solidFill>
            <a:srgbClr val="000000">
              <a:alpha val="4000"/>
            </a:srgbClr>
          </a:solidFill>
          <a:ln/>
        </p:spPr>
      </p:sp>
      <p:sp>
        <p:nvSpPr>
          <p:cNvPr id="41" name="Text 39"/>
          <p:cNvSpPr/>
          <p:nvPr/>
        </p:nvSpPr>
        <p:spPr>
          <a:xfrm>
            <a:off x="983099" y="6541532"/>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Paint used/day</a:t>
            </a:r>
            <a:endParaRPr lang="en-US" sz="1400" dirty="0"/>
          </a:p>
        </p:txBody>
      </p:sp>
      <p:sp>
        <p:nvSpPr>
          <p:cNvPr id="42" name="Text 40"/>
          <p:cNvSpPr/>
          <p:nvPr/>
        </p:nvSpPr>
        <p:spPr>
          <a:xfrm>
            <a:off x="4895136" y="654153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600 L</a:t>
            </a:r>
            <a:endParaRPr lang="en-US" sz="1400" dirty="0"/>
          </a:p>
        </p:txBody>
      </p:sp>
      <p:sp>
        <p:nvSpPr>
          <p:cNvPr id="43" name="Text 41"/>
          <p:cNvSpPr/>
          <p:nvPr/>
        </p:nvSpPr>
        <p:spPr>
          <a:xfrm>
            <a:off x="7500580" y="654153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480 L</a:t>
            </a:r>
            <a:endParaRPr lang="en-US" sz="1400" dirty="0"/>
          </a:p>
        </p:txBody>
      </p:sp>
      <p:sp>
        <p:nvSpPr>
          <p:cNvPr id="44" name="Text 42"/>
          <p:cNvSpPr/>
          <p:nvPr/>
        </p:nvSpPr>
        <p:spPr>
          <a:xfrm>
            <a:off x="10106025" y="6541532"/>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a:t>
            </a:r>
            <a:endParaRPr lang="en-US" sz="1400" dirty="0"/>
          </a:p>
        </p:txBody>
      </p:sp>
      <p:sp>
        <p:nvSpPr>
          <p:cNvPr id="45" name="Shape 43"/>
          <p:cNvSpPr/>
          <p:nvPr/>
        </p:nvSpPr>
        <p:spPr>
          <a:xfrm>
            <a:off x="801410" y="6948249"/>
            <a:ext cx="13027581" cy="523161"/>
          </a:xfrm>
          <a:prstGeom prst="rect">
            <a:avLst/>
          </a:prstGeom>
          <a:solidFill>
            <a:srgbClr val="FFFFFF">
              <a:alpha val="4000"/>
            </a:srgbClr>
          </a:solidFill>
          <a:ln/>
        </p:spPr>
      </p:sp>
      <p:sp>
        <p:nvSpPr>
          <p:cNvPr id="46" name="Text 44"/>
          <p:cNvSpPr/>
          <p:nvPr/>
        </p:nvSpPr>
        <p:spPr>
          <a:xfrm>
            <a:off x="983099" y="7064692"/>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Defect rate</a:t>
            </a:r>
            <a:endParaRPr lang="en-US" sz="1400" dirty="0"/>
          </a:p>
        </p:txBody>
      </p:sp>
      <p:sp>
        <p:nvSpPr>
          <p:cNvPr id="47" name="Text 45"/>
          <p:cNvSpPr/>
          <p:nvPr/>
        </p:nvSpPr>
        <p:spPr>
          <a:xfrm>
            <a:off x="4895136" y="70646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48" name="Text 46"/>
          <p:cNvSpPr/>
          <p:nvPr/>
        </p:nvSpPr>
        <p:spPr>
          <a:xfrm>
            <a:off x="7500580" y="7064692"/>
            <a:ext cx="2234922"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1%</a:t>
            </a:r>
            <a:endParaRPr lang="en-US" sz="1400" dirty="0"/>
          </a:p>
        </p:txBody>
      </p:sp>
      <p:sp>
        <p:nvSpPr>
          <p:cNvPr id="49" name="Text 47"/>
          <p:cNvSpPr/>
          <p:nvPr/>
        </p:nvSpPr>
        <p:spPr>
          <a:xfrm>
            <a:off x="10106025" y="7064692"/>
            <a:ext cx="3541514"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a:t>
            </a:r>
            <a:endParaRPr lang="en-US" sz="1400" dirty="0"/>
          </a:p>
        </p:txBody>
      </p:sp>
      <p:sp>
        <p:nvSpPr>
          <p:cNvPr id="50" name="Rectangle 49">
            <a:extLst>
              <a:ext uri="{FF2B5EF4-FFF2-40B4-BE49-F238E27FC236}">
                <a16:creationId xmlns:a16="http://schemas.microsoft.com/office/drawing/2014/main" id="{F1D0E71B-D9E3-89F8-8E32-D16C23F9594A}"/>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46998"/>
            <a:ext cx="5374005"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Baseline Simulation Metrics</a:t>
            </a:r>
            <a:endParaRPr lang="en-US" sz="3100" dirty="0"/>
          </a:p>
        </p:txBody>
      </p:sp>
      <p:sp>
        <p:nvSpPr>
          <p:cNvPr id="3" name="Text 1"/>
          <p:cNvSpPr/>
          <p:nvPr/>
        </p:nvSpPr>
        <p:spPr>
          <a:xfrm>
            <a:off x="786170" y="1324452"/>
            <a:ext cx="13167955" cy="496133"/>
          </a:xfrm>
          <a:prstGeom prst="rect">
            <a:avLst/>
          </a:prstGeom>
          <a:noFill/>
          <a:ln/>
        </p:spPr>
        <p:txBody>
          <a:bodyPr wrap="none" lIns="0" tIns="0" rIns="0" bIns="0" rtlCol="0" anchor="t"/>
          <a:lstStyle/>
          <a:p>
            <a:pPr marL="0" indent="0" algn="l">
              <a:lnSpc>
                <a:spcPts val="2000"/>
              </a:lnSpc>
              <a:buNone/>
            </a:pPr>
            <a:r>
              <a:rPr lang="en-US" sz="1600" dirty="0">
                <a:solidFill>
                  <a:srgbClr val="272525"/>
                </a:solidFill>
                <a:latin typeface="Inter" pitchFamily="34" charset="0"/>
                <a:ea typeface="Inter" pitchFamily="34" charset="-122"/>
                <a:cs typeface="Inter" pitchFamily="34" charset="-120"/>
              </a:rPr>
              <a:t>This table outlines the key performance indicators and operational parameters that define our current beverage bottle coating process before any optimizations.</a:t>
            </a:r>
            <a:endParaRPr lang="en-US" sz="1600" dirty="0"/>
          </a:p>
        </p:txBody>
      </p:sp>
      <p:pic>
        <p:nvPicPr>
          <p:cNvPr id="4" name="Image 0" descr="preencoded.png"/>
          <p:cNvPicPr>
            <a:picLocks noChangeAspect="1"/>
          </p:cNvPicPr>
          <p:nvPr/>
        </p:nvPicPr>
        <p:blipFill>
          <a:blip r:embed="rId3"/>
          <a:stretch>
            <a:fillRect/>
          </a:stretch>
        </p:blipFill>
        <p:spPr>
          <a:xfrm>
            <a:off x="786170" y="1659851"/>
            <a:ext cx="9336529" cy="2162135"/>
          </a:xfrm>
          <a:prstGeom prst="rect">
            <a:avLst/>
          </a:prstGeom>
        </p:spPr>
      </p:pic>
      <p:sp>
        <p:nvSpPr>
          <p:cNvPr id="5" name="Shape 2"/>
          <p:cNvSpPr/>
          <p:nvPr/>
        </p:nvSpPr>
        <p:spPr>
          <a:xfrm>
            <a:off x="793790" y="3585719"/>
            <a:ext cx="13042821" cy="4153614"/>
          </a:xfrm>
          <a:prstGeom prst="roundRect">
            <a:avLst>
              <a:gd name="adj" fmla="val 1606"/>
            </a:avLst>
          </a:prstGeom>
          <a:noFill/>
          <a:ln w="7620">
            <a:solidFill>
              <a:srgbClr val="000000">
                <a:alpha val="8000"/>
              </a:srgbClr>
            </a:solidFill>
            <a:prstDash val="solid"/>
          </a:ln>
        </p:spPr>
      </p:sp>
      <p:sp>
        <p:nvSpPr>
          <p:cNvPr id="6" name="Shape 3"/>
          <p:cNvSpPr/>
          <p:nvPr/>
        </p:nvSpPr>
        <p:spPr>
          <a:xfrm>
            <a:off x="801410" y="3593339"/>
            <a:ext cx="13027581" cy="459819"/>
          </a:xfrm>
          <a:prstGeom prst="rect">
            <a:avLst/>
          </a:prstGeom>
          <a:solidFill>
            <a:srgbClr val="FFFFFF">
              <a:alpha val="4000"/>
            </a:srgbClr>
          </a:solidFill>
          <a:ln/>
        </p:spPr>
      </p:sp>
      <p:sp>
        <p:nvSpPr>
          <p:cNvPr id="7" name="Text 4"/>
          <p:cNvSpPr/>
          <p:nvPr/>
        </p:nvSpPr>
        <p:spPr>
          <a:xfrm>
            <a:off x="960120" y="3696209"/>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Bottles per Day</a:t>
            </a:r>
            <a:endParaRPr lang="en-US" sz="1250" dirty="0"/>
          </a:p>
        </p:txBody>
      </p:sp>
      <p:sp>
        <p:nvSpPr>
          <p:cNvPr id="8" name="Text 5"/>
          <p:cNvSpPr/>
          <p:nvPr/>
        </p:nvSpPr>
        <p:spPr>
          <a:xfrm>
            <a:off x="7477720" y="3696209"/>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90,000 bottles</a:t>
            </a:r>
            <a:endParaRPr lang="en-US" sz="1250" dirty="0"/>
          </a:p>
        </p:txBody>
      </p:sp>
      <p:sp>
        <p:nvSpPr>
          <p:cNvPr id="9" name="Shape 6"/>
          <p:cNvSpPr/>
          <p:nvPr/>
        </p:nvSpPr>
        <p:spPr>
          <a:xfrm>
            <a:off x="801410" y="4053159"/>
            <a:ext cx="13027581" cy="459819"/>
          </a:xfrm>
          <a:prstGeom prst="rect">
            <a:avLst/>
          </a:prstGeom>
          <a:solidFill>
            <a:srgbClr val="000000">
              <a:alpha val="4000"/>
            </a:srgbClr>
          </a:solidFill>
          <a:ln/>
        </p:spPr>
      </p:sp>
      <p:sp>
        <p:nvSpPr>
          <p:cNvPr id="10" name="Text 7"/>
          <p:cNvSpPr/>
          <p:nvPr/>
        </p:nvSpPr>
        <p:spPr>
          <a:xfrm>
            <a:off x="960120" y="4156029"/>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Inter-arrival Time</a:t>
            </a:r>
            <a:endParaRPr lang="en-US" sz="1250" dirty="0"/>
          </a:p>
        </p:txBody>
      </p:sp>
      <p:sp>
        <p:nvSpPr>
          <p:cNvPr id="11" name="Text 8"/>
          <p:cNvSpPr/>
          <p:nvPr/>
        </p:nvSpPr>
        <p:spPr>
          <a:xfrm>
            <a:off x="7477720" y="4156029"/>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0.96 seconds</a:t>
            </a:r>
            <a:endParaRPr lang="en-US" sz="1250" dirty="0"/>
          </a:p>
        </p:txBody>
      </p:sp>
      <p:sp>
        <p:nvSpPr>
          <p:cNvPr id="12" name="Shape 9"/>
          <p:cNvSpPr/>
          <p:nvPr/>
        </p:nvSpPr>
        <p:spPr>
          <a:xfrm>
            <a:off x="801410" y="4512978"/>
            <a:ext cx="13027581" cy="459819"/>
          </a:xfrm>
          <a:prstGeom prst="rect">
            <a:avLst/>
          </a:prstGeom>
          <a:solidFill>
            <a:srgbClr val="FFFFFF">
              <a:alpha val="4000"/>
            </a:srgbClr>
          </a:solidFill>
          <a:ln/>
        </p:spPr>
      </p:sp>
      <p:sp>
        <p:nvSpPr>
          <p:cNvPr id="13" name="Text 10"/>
          <p:cNvSpPr/>
          <p:nvPr/>
        </p:nvSpPr>
        <p:spPr>
          <a:xfrm>
            <a:off x="960120" y="4615848"/>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Service Time per Bottle</a:t>
            </a:r>
            <a:endParaRPr lang="en-US" sz="1250" dirty="0"/>
          </a:p>
        </p:txBody>
      </p:sp>
      <p:sp>
        <p:nvSpPr>
          <p:cNvPr id="14" name="Text 11"/>
          <p:cNvSpPr/>
          <p:nvPr/>
        </p:nvSpPr>
        <p:spPr>
          <a:xfrm>
            <a:off x="7477720" y="4615848"/>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0.9 seconds</a:t>
            </a:r>
            <a:endParaRPr lang="en-US" sz="1250" dirty="0"/>
          </a:p>
        </p:txBody>
      </p:sp>
      <p:sp>
        <p:nvSpPr>
          <p:cNvPr id="15" name="Shape 12"/>
          <p:cNvSpPr/>
          <p:nvPr/>
        </p:nvSpPr>
        <p:spPr>
          <a:xfrm>
            <a:off x="801410" y="4972798"/>
            <a:ext cx="13027581" cy="459819"/>
          </a:xfrm>
          <a:prstGeom prst="rect">
            <a:avLst/>
          </a:prstGeom>
          <a:solidFill>
            <a:srgbClr val="000000">
              <a:alpha val="4000"/>
            </a:srgbClr>
          </a:solidFill>
          <a:ln/>
        </p:spPr>
      </p:sp>
      <p:sp>
        <p:nvSpPr>
          <p:cNvPr id="16" name="Text 13"/>
          <p:cNvSpPr/>
          <p:nvPr/>
        </p:nvSpPr>
        <p:spPr>
          <a:xfrm>
            <a:off x="960120" y="5075668"/>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MTBF</a:t>
            </a:r>
            <a:endParaRPr lang="en-US" sz="1250" dirty="0"/>
          </a:p>
        </p:txBody>
      </p:sp>
      <p:sp>
        <p:nvSpPr>
          <p:cNvPr id="17" name="Text 14"/>
          <p:cNvSpPr/>
          <p:nvPr/>
        </p:nvSpPr>
        <p:spPr>
          <a:xfrm>
            <a:off x="7477720" y="5075668"/>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4000 hours</a:t>
            </a:r>
            <a:endParaRPr lang="en-US" sz="1250" dirty="0"/>
          </a:p>
        </p:txBody>
      </p:sp>
      <p:sp>
        <p:nvSpPr>
          <p:cNvPr id="18" name="Shape 15"/>
          <p:cNvSpPr/>
          <p:nvPr/>
        </p:nvSpPr>
        <p:spPr>
          <a:xfrm>
            <a:off x="801410" y="5432617"/>
            <a:ext cx="13027581" cy="459819"/>
          </a:xfrm>
          <a:prstGeom prst="rect">
            <a:avLst/>
          </a:prstGeom>
          <a:solidFill>
            <a:srgbClr val="FFFFFF">
              <a:alpha val="4000"/>
            </a:srgbClr>
          </a:solidFill>
          <a:ln/>
        </p:spPr>
      </p:sp>
      <p:sp>
        <p:nvSpPr>
          <p:cNvPr id="19" name="Text 16"/>
          <p:cNvSpPr/>
          <p:nvPr/>
        </p:nvSpPr>
        <p:spPr>
          <a:xfrm>
            <a:off x="960120" y="5535487"/>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MTTR</a:t>
            </a:r>
            <a:endParaRPr lang="en-US" sz="1250" dirty="0"/>
          </a:p>
        </p:txBody>
      </p:sp>
      <p:sp>
        <p:nvSpPr>
          <p:cNvPr id="20" name="Text 17"/>
          <p:cNvSpPr/>
          <p:nvPr/>
        </p:nvSpPr>
        <p:spPr>
          <a:xfrm>
            <a:off x="7477720" y="5535487"/>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20 hours</a:t>
            </a:r>
            <a:endParaRPr lang="en-US" sz="1250" dirty="0"/>
          </a:p>
        </p:txBody>
      </p:sp>
      <p:sp>
        <p:nvSpPr>
          <p:cNvPr id="21" name="Shape 18"/>
          <p:cNvSpPr/>
          <p:nvPr/>
        </p:nvSpPr>
        <p:spPr>
          <a:xfrm>
            <a:off x="801410" y="5892436"/>
            <a:ext cx="13027581" cy="459819"/>
          </a:xfrm>
          <a:prstGeom prst="rect">
            <a:avLst/>
          </a:prstGeom>
          <a:solidFill>
            <a:srgbClr val="000000">
              <a:alpha val="4000"/>
            </a:srgbClr>
          </a:solidFill>
          <a:ln/>
        </p:spPr>
      </p:sp>
      <p:sp>
        <p:nvSpPr>
          <p:cNvPr id="22" name="Text 19"/>
          <p:cNvSpPr/>
          <p:nvPr/>
        </p:nvSpPr>
        <p:spPr>
          <a:xfrm>
            <a:off x="960120" y="599530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Refill Delay</a:t>
            </a:r>
            <a:endParaRPr lang="en-US" sz="1250" dirty="0"/>
          </a:p>
        </p:txBody>
      </p:sp>
      <p:sp>
        <p:nvSpPr>
          <p:cNvPr id="23" name="Text 20"/>
          <p:cNvSpPr/>
          <p:nvPr/>
        </p:nvSpPr>
        <p:spPr>
          <a:xfrm>
            <a:off x="7477720" y="599530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30 seconds every 1000 bottles</a:t>
            </a:r>
            <a:endParaRPr lang="en-US" sz="1250" dirty="0"/>
          </a:p>
        </p:txBody>
      </p:sp>
      <p:sp>
        <p:nvSpPr>
          <p:cNvPr id="24" name="Shape 21"/>
          <p:cNvSpPr/>
          <p:nvPr/>
        </p:nvSpPr>
        <p:spPr>
          <a:xfrm>
            <a:off x="801410" y="6352256"/>
            <a:ext cx="13027581" cy="459819"/>
          </a:xfrm>
          <a:prstGeom prst="rect">
            <a:avLst/>
          </a:prstGeom>
          <a:solidFill>
            <a:srgbClr val="FFFFFF">
              <a:alpha val="4000"/>
            </a:srgbClr>
          </a:solidFill>
          <a:ln/>
        </p:spPr>
      </p:sp>
      <p:sp>
        <p:nvSpPr>
          <p:cNvPr id="25" name="Text 22"/>
          <p:cNvSpPr/>
          <p:nvPr/>
        </p:nvSpPr>
        <p:spPr>
          <a:xfrm>
            <a:off x="960120" y="645512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Paint Transfer Efficiency</a:t>
            </a:r>
            <a:endParaRPr lang="en-US" sz="1250" dirty="0"/>
          </a:p>
        </p:txBody>
      </p:sp>
      <p:sp>
        <p:nvSpPr>
          <p:cNvPr id="26" name="Text 23"/>
          <p:cNvSpPr/>
          <p:nvPr/>
        </p:nvSpPr>
        <p:spPr>
          <a:xfrm>
            <a:off x="7477720" y="645512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70%</a:t>
            </a:r>
            <a:endParaRPr lang="en-US" sz="1250" dirty="0"/>
          </a:p>
        </p:txBody>
      </p:sp>
      <p:sp>
        <p:nvSpPr>
          <p:cNvPr id="27" name="Shape 24"/>
          <p:cNvSpPr/>
          <p:nvPr/>
        </p:nvSpPr>
        <p:spPr>
          <a:xfrm>
            <a:off x="801410" y="6812075"/>
            <a:ext cx="13027581" cy="459819"/>
          </a:xfrm>
          <a:prstGeom prst="rect">
            <a:avLst/>
          </a:prstGeom>
          <a:solidFill>
            <a:srgbClr val="000000">
              <a:alpha val="4000"/>
            </a:srgbClr>
          </a:solidFill>
          <a:ln/>
        </p:spPr>
      </p:sp>
      <p:sp>
        <p:nvSpPr>
          <p:cNvPr id="28" name="Text 25"/>
          <p:cNvSpPr/>
          <p:nvPr/>
        </p:nvSpPr>
        <p:spPr>
          <a:xfrm>
            <a:off x="960120" y="6914945"/>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Paint Used per Day</a:t>
            </a:r>
            <a:endParaRPr lang="en-US" sz="1250" dirty="0"/>
          </a:p>
        </p:txBody>
      </p:sp>
      <p:sp>
        <p:nvSpPr>
          <p:cNvPr id="29" name="Text 26"/>
          <p:cNvSpPr/>
          <p:nvPr/>
        </p:nvSpPr>
        <p:spPr>
          <a:xfrm>
            <a:off x="7477720" y="6914945"/>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600 liters</a:t>
            </a:r>
            <a:endParaRPr lang="en-US" sz="1250" dirty="0"/>
          </a:p>
        </p:txBody>
      </p:sp>
      <p:sp>
        <p:nvSpPr>
          <p:cNvPr id="30" name="Shape 27"/>
          <p:cNvSpPr/>
          <p:nvPr/>
        </p:nvSpPr>
        <p:spPr>
          <a:xfrm>
            <a:off x="801410" y="7271894"/>
            <a:ext cx="13027581" cy="459819"/>
          </a:xfrm>
          <a:prstGeom prst="rect">
            <a:avLst/>
          </a:prstGeom>
          <a:solidFill>
            <a:srgbClr val="FFFFFF">
              <a:alpha val="4000"/>
            </a:srgbClr>
          </a:solidFill>
          <a:ln/>
        </p:spPr>
      </p:sp>
      <p:sp>
        <p:nvSpPr>
          <p:cNvPr id="31" name="Text 28"/>
          <p:cNvSpPr/>
          <p:nvPr/>
        </p:nvSpPr>
        <p:spPr>
          <a:xfrm>
            <a:off x="960120" y="7374764"/>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Defect Rate</a:t>
            </a:r>
            <a:endParaRPr lang="en-US" sz="1250" dirty="0"/>
          </a:p>
        </p:txBody>
      </p:sp>
      <p:sp>
        <p:nvSpPr>
          <p:cNvPr id="32" name="Text 29"/>
          <p:cNvSpPr/>
          <p:nvPr/>
        </p:nvSpPr>
        <p:spPr>
          <a:xfrm>
            <a:off x="7477720" y="7374764"/>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3%</a:t>
            </a:r>
            <a:endParaRPr lang="en-US" sz="1250" dirty="0"/>
          </a:p>
        </p:txBody>
      </p:sp>
      <p:sp>
        <p:nvSpPr>
          <p:cNvPr id="33" name="Rectangle 32">
            <a:extLst>
              <a:ext uri="{FF2B5EF4-FFF2-40B4-BE49-F238E27FC236}">
                <a16:creationId xmlns:a16="http://schemas.microsoft.com/office/drawing/2014/main" id="{353AA695-0E7E-3A62-AF03-A1F66D089826}"/>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46998"/>
            <a:ext cx="5872520" cy="46077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Inter Bold" pitchFamily="34" charset="0"/>
                <a:ea typeface="Inter Bold" pitchFamily="34" charset="-122"/>
                <a:cs typeface="Inter Bold" pitchFamily="34" charset="-120"/>
              </a:rPr>
              <a:t>Automated System Performance</a:t>
            </a:r>
            <a:endParaRPr lang="en-US" sz="2900" dirty="0"/>
          </a:p>
        </p:txBody>
      </p:sp>
      <p:sp>
        <p:nvSpPr>
          <p:cNvPr id="3" name="Text 1"/>
          <p:cNvSpPr/>
          <p:nvPr/>
        </p:nvSpPr>
        <p:spPr>
          <a:xfrm>
            <a:off x="793790" y="1502569"/>
            <a:ext cx="13042821" cy="235744"/>
          </a:xfrm>
          <a:prstGeom prst="rect">
            <a:avLst/>
          </a:prstGeom>
          <a:noFill/>
          <a:ln/>
        </p:spPr>
        <p:txBody>
          <a:bodyPr wrap="none" lIns="0" tIns="0" rIns="0" bIns="0" rtlCol="0" anchor="t"/>
          <a:lstStyle/>
          <a:p>
            <a:pPr marL="0" indent="0" algn="l">
              <a:lnSpc>
                <a:spcPts val="1850"/>
              </a:lnSpc>
              <a:buNone/>
            </a:pPr>
            <a:r>
              <a:rPr lang="en-US" dirty="0">
                <a:solidFill>
                  <a:srgbClr val="272525"/>
                </a:solidFill>
                <a:latin typeface="Inter" pitchFamily="34" charset="0"/>
                <a:ea typeface="Inter" pitchFamily="34" charset="-122"/>
                <a:cs typeface="Inter" pitchFamily="34" charset="-120"/>
              </a:rPr>
              <a:t>Enhanced operational metrics with electrostatic spray technology</a:t>
            </a:r>
            <a:endParaRPr lang="en-US" dirty="0"/>
          </a:p>
        </p:txBody>
      </p:sp>
      <p:pic>
        <p:nvPicPr>
          <p:cNvPr id="4" name="Image 0" descr="preencoded.png"/>
          <p:cNvPicPr>
            <a:picLocks noChangeAspect="1"/>
          </p:cNvPicPr>
          <p:nvPr/>
        </p:nvPicPr>
        <p:blipFill>
          <a:blip r:embed="rId3"/>
          <a:stretch>
            <a:fillRect/>
          </a:stretch>
        </p:blipFill>
        <p:spPr>
          <a:xfrm>
            <a:off x="793790" y="1904167"/>
            <a:ext cx="8477726" cy="2787253"/>
          </a:xfrm>
          <a:prstGeom prst="rect">
            <a:avLst/>
          </a:prstGeom>
        </p:spPr>
      </p:pic>
      <p:sp>
        <p:nvSpPr>
          <p:cNvPr id="5" name="Shape 2"/>
          <p:cNvSpPr/>
          <p:nvPr/>
        </p:nvSpPr>
        <p:spPr>
          <a:xfrm>
            <a:off x="793790" y="4857274"/>
            <a:ext cx="6447711" cy="545783"/>
          </a:xfrm>
          <a:prstGeom prst="roundRect">
            <a:avLst>
              <a:gd name="adj" fmla="val 11346"/>
            </a:avLst>
          </a:prstGeom>
          <a:solidFill>
            <a:srgbClr val="ADD8E6"/>
          </a:solidFill>
          <a:ln w="7620">
            <a:solidFill>
              <a:srgbClr val="93BECC"/>
            </a:solidFill>
            <a:prstDash val="solid"/>
          </a:ln>
        </p:spPr>
      </p:sp>
      <p:sp>
        <p:nvSpPr>
          <p:cNvPr id="6" name="Text 3"/>
          <p:cNvSpPr/>
          <p:nvPr/>
        </p:nvSpPr>
        <p:spPr>
          <a:xfrm>
            <a:off x="948809" y="5012293"/>
            <a:ext cx="6137672" cy="235744"/>
          </a:xfrm>
          <a:prstGeom prst="rect">
            <a:avLst/>
          </a:prstGeom>
          <a:noFill/>
          <a:ln/>
        </p:spPr>
        <p:txBody>
          <a:bodyPr wrap="none" lIns="0" tIns="0" rIns="0" bIns="0" rtlCol="0" anchor="t"/>
          <a:lstStyle/>
          <a:p>
            <a:pPr marL="0" indent="0" algn="l">
              <a:lnSpc>
                <a:spcPts val="1850"/>
              </a:lnSpc>
              <a:buNone/>
            </a:pPr>
            <a:r>
              <a:rPr lang="en-US" sz="1150" b="1" dirty="0">
                <a:solidFill>
                  <a:srgbClr val="000000"/>
                </a:solidFill>
                <a:latin typeface="Inter" pitchFamily="34" charset="0"/>
                <a:ea typeface="Inter" pitchFamily="34" charset="-122"/>
                <a:cs typeface="Inter" pitchFamily="34" charset="-120"/>
              </a:rPr>
              <a:t>108,000 bottles/day</a:t>
            </a:r>
            <a:r>
              <a:rPr lang="en-US" sz="1150" dirty="0">
                <a:solidFill>
                  <a:srgbClr val="000000"/>
                </a:solidFill>
                <a:latin typeface="Inter" pitchFamily="34" charset="0"/>
                <a:ea typeface="Inter" pitchFamily="34" charset="-122"/>
                <a:cs typeface="Inter" pitchFamily="34" charset="-120"/>
              </a:rPr>
              <a:t> (+20% production increase)</a:t>
            </a:r>
            <a:endParaRPr lang="en-US" sz="1150" dirty="0"/>
          </a:p>
        </p:txBody>
      </p:sp>
      <p:sp>
        <p:nvSpPr>
          <p:cNvPr id="7" name="Shape 4"/>
          <p:cNvSpPr/>
          <p:nvPr/>
        </p:nvSpPr>
        <p:spPr>
          <a:xfrm>
            <a:off x="7388900" y="4857274"/>
            <a:ext cx="6447711" cy="545783"/>
          </a:xfrm>
          <a:prstGeom prst="roundRect">
            <a:avLst>
              <a:gd name="adj" fmla="val 11346"/>
            </a:avLst>
          </a:prstGeom>
          <a:solidFill>
            <a:srgbClr val="ADD8E6"/>
          </a:solidFill>
          <a:ln w="7620">
            <a:solidFill>
              <a:srgbClr val="93BECC"/>
            </a:solidFill>
            <a:prstDash val="solid"/>
          </a:ln>
        </p:spPr>
      </p:sp>
      <p:sp>
        <p:nvSpPr>
          <p:cNvPr id="8" name="Text 5"/>
          <p:cNvSpPr/>
          <p:nvPr/>
        </p:nvSpPr>
        <p:spPr>
          <a:xfrm>
            <a:off x="7543919" y="5012293"/>
            <a:ext cx="6137672" cy="235744"/>
          </a:xfrm>
          <a:prstGeom prst="rect">
            <a:avLst/>
          </a:prstGeom>
          <a:noFill/>
          <a:ln/>
        </p:spPr>
        <p:txBody>
          <a:bodyPr wrap="none" lIns="0" tIns="0" rIns="0" bIns="0" rtlCol="0" anchor="t"/>
          <a:lstStyle/>
          <a:p>
            <a:pPr marL="0" indent="0" algn="l">
              <a:lnSpc>
                <a:spcPts val="1850"/>
              </a:lnSpc>
              <a:buNone/>
            </a:pPr>
            <a:r>
              <a:rPr lang="en-US" sz="1150" b="1" dirty="0">
                <a:solidFill>
                  <a:srgbClr val="000000"/>
                </a:solidFill>
                <a:latin typeface="Inter" pitchFamily="34" charset="0"/>
                <a:ea typeface="Inter" pitchFamily="34" charset="-122"/>
                <a:cs typeface="Inter" pitchFamily="34" charset="-120"/>
              </a:rPr>
              <a:t>88% transfer efficiency</a:t>
            </a:r>
            <a:r>
              <a:rPr lang="en-US" sz="1150" dirty="0">
                <a:solidFill>
                  <a:srgbClr val="000000"/>
                </a:solidFill>
                <a:latin typeface="Inter" pitchFamily="34" charset="0"/>
                <a:ea typeface="Inter" pitchFamily="34" charset="-122"/>
                <a:cs typeface="Inter" pitchFamily="34" charset="-120"/>
              </a:rPr>
              <a:t> (+18% improvement)</a:t>
            </a:r>
            <a:endParaRPr lang="en-US" sz="1150" dirty="0"/>
          </a:p>
        </p:txBody>
      </p:sp>
      <p:sp>
        <p:nvSpPr>
          <p:cNvPr id="9" name="Shape 6"/>
          <p:cNvSpPr/>
          <p:nvPr/>
        </p:nvSpPr>
        <p:spPr>
          <a:xfrm>
            <a:off x="793790" y="5550456"/>
            <a:ext cx="6447711" cy="545783"/>
          </a:xfrm>
          <a:prstGeom prst="roundRect">
            <a:avLst>
              <a:gd name="adj" fmla="val 11346"/>
            </a:avLst>
          </a:prstGeom>
          <a:solidFill>
            <a:srgbClr val="ADD8E6"/>
          </a:solidFill>
          <a:ln w="7620">
            <a:solidFill>
              <a:srgbClr val="93BECC"/>
            </a:solidFill>
            <a:prstDash val="solid"/>
          </a:ln>
        </p:spPr>
      </p:sp>
      <p:sp>
        <p:nvSpPr>
          <p:cNvPr id="10" name="Text 7"/>
          <p:cNvSpPr/>
          <p:nvPr/>
        </p:nvSpPr>
        <p:spPr>
          <a:xfrm>
            <a:off x="948809" y="5705475"/>
            <a:ext cx="6137672" cy="235744"/>
          </a:xfrm>
          <a:prstGeom prst="rect">
            <a:avLst/>
          </a:prstGeom>
          <a:noFill/>
          <a:ln/>
        </p:spPr>
        <p:txBody>
          <a:bodyPr wrap="none" lIns="0" tIns="0" rIns="0" bIns="0" rtlCol="0" anchor="t"/>
          <a:lstStyle/>
          <a:p>
            <a:pPr marL="0" indent="0" algn="l">
              <a:lnSpc>
                <a:spcPts val="1850"/>
              </a:lnSpc>
              <a:buNone/>
            </a:pPr>
            <a:r>
              <a:rPr lang="en-US" sz="1150" b="1" dirty="0">
                <a:solidFill>
                  <a:srgbClr val="000000"/>
                </a:solidFill>
                <a:latin typeface="Inter" pitchFamily="34" charset="0"/>
                <a:ea typeface="Inter" pitchFamily="34" charset="-122"/>
                <a:cs typeface="Inter" pitchFamily="34" charset="-120"/>
              </a:rPr>
              <a:t>1% defect rate</a:t>
            </a:r>
            <a:r>
              <a:rPr lang="en-US" sz="1150" dirty="0">
                <a:solidFill>
                  <a:srgbClr val="000000"/>
                </a:solidFill>
                <a:latin typeface="Inter" pitchFamily="34" charset="0"/>
                <a:ea typeface="Inter" pitchFamily="34" charset="-122"/>
                <a:cs typeface="Inter" pitchFamily="34" charset="-120"/>
              </a:rPr>
              <a:t> (-66% reduction)</a:t>
            </a:r>
            <a:endParaRPr lang="en-US" sz="1150" dirty="0"/>
          </a:p>
        </p:txBody>
      </p:sp>
      <p:sp>
        <p:nvSpPr>
          <p:cNvPr id="11" name="Shape 8"/>
          <p:cNvSpPr/>
          <p:nvPr/>
        </p:nvSpPr>
        <p:spPr>
          <a:xfrm>
            <a:off x="7388900" y="5550456"/>
            <a:ext cx="6447711" cy="545783"/>
          </a:xfrm>
          <a:prstGeom prst="roundRect">
            <a:avLst>
              <a:gd name="adj" fmla="val 11346"/>
            </a:avLst>
          </a:prstGeom>
          <a:solidFill>
            <a:srgbClr val="ADD8E6"/>
          </a:solidFill>
          <a:ln w="7620">
            <a:solidFill>
              <a:srgbClr val="93BECC"/>
            </a:solidFill>
            <a:prstDash val="solid"/>
          </a:ln>
        </p:spPr>
      </p:sp>
      <p:sp>
        <p:nvSpPr>
          <p:cNvPr id="12" name="Text 9"/>
          <p:cNvSpPr/>
          <p:nvPr/>
        </p:nvSpPr>
        <p:spPr>
          <a:xfrm>
            <a:off x="7543919" y="5705475"/>
            <a:ext cx="6137672" cy="235744"/>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Inter-arrival time: </a:t>
            </a:r>
            <a:r>
              <a:rPr lang="en-US" sz="1150" b="1" dirty="0">
                <a:solidFill>
                  <a:srgbClr val="000000"/>
                </a:solidFill>
                <a:latin typeface="Inter" pitchFamily="34" charset="0"/>
                <a:ea typeface="Inter" pitchFamily="34" charset="-122"/>
                <a:cs typeface="Inter" pitchFamily="34" charset="-120"/>
              </a:rPr>
              <a:t>0.80 seconds</a:t>
            </a:r>
            <a:r>
              <a:rPr lang="en-US" sz="1150" dirty="0">
                <a:solidFill>
                  <a:srgbClr val="000000"/>
                </a:solidFill>
                <a:latin typeface="Inter" pitchFamily="34" charset="0"/>
                <a:ea typeface="Inter" pitchFamily="34" charset="-122"/>
                <a:cs typeface="Inter" pitchFamily="34" charset="-120"/>
              </a:rPr>
              <a:t> (17% faster)</a:t>
            </a:r>
            <a:endParaRPr lang="en-US" sz="1150" dirty="0"/>
          </a:p>
        </p:txBody>
      </p:sp>
      <p:sp>
        <p:nvSpPr>
          <p:cNvPr id="13" name="Shape 10"/>
          <p:cNvSpPr/>
          <p:nvPr/>
        </p:nvSpPr>
        <p:spPr>
          <a:xfrm>
            <a:off x="793790" y="6243638"/>
            <a:ext cx="6447711" cy="545783"/>
          </a:xfrm>
          <a:prstGeom prst="roundRect">
            <a:avLst>
              <a:gd name="adj" fmla="val 11346"/>
            </a:avLst>
          </a:prstGeom>
          <a:solidFill>
            <a:srgbClr val="ADD8E6"/>
          </a:solidFill>
          <a:ln w="7620">
            <a:solidFill>
              <a:srgbClr val="93BECC"/>
            </a:solidFill>
            <a:prstDash val="solid"/>
          </a:ln>
        </p:spPr>
      </p:sp>
      <p:sp>
        <p:nvSpPr>
          <p:cNvPr id="14" name="Text 11"/>
          <p:cNvSpPr/>
          <p:nvPr/>
        </p:nvSpPr>
        <p:spPr>
          <a:xfrm>
            <a:off x="948809" y="6398657"/>
            <a:ext cx="6137672" cy="235744"/>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Service time: </a:t>
            </a:r>
            <a:r>
              <a:rPr lang="en-US" sz="1150" b="1" dirty="0">
                <a:solidFill>
                  <a:srgbClr val="000000"/>
                </a:solidFill>
                <a:latin typeface="Inter" pitchFamily="34" charset="0"/>
                <a:ea typeface="Inter" pitchFamily="34" charset="-122"/>
                <a:cs typeface="Inter" pitchFamily="34" charset="-120"/>
              </a:rPr>
              <a:t>0.72 seconds</a:t>
            </a:r>
            <a:r>
              <a:rPr lang="en-US" sz="1150" dirty="0">
                <a:solidFill>
                  <a:srgbClr val="000000"/>
                </a:solidFill>
                <a:latin typeface="Inter" pitchFamily="34" charset="0"/>
                <a:ea typeface="Inter" pitchFamily="34" charset="-122"/>
                <a:cs typeface="Inter" pitchFamily="34" charset="-120"/>
              </a:rPr>
              <a:t> (20% faster)</a:t>
            </a:r>
            <a:endParaRPr lang="en-US" sz="1150" dirty="0"/>
          </a:p>
        </p:txBody>
      </p:sp>
      <p:sp>
        <p:nvSpPr>
          <p:cNvPr id="15" name="Shape 12"/>
          <p:cNvSpPr/>
          <p:nvPr/>
        </p:nvSpPr>
        <p:spPr>
          <a:xfrm>
            <a:off x="7388900" y="6243638"/>
            <a:ext cx="6447711" cy="545783"/>
          </a:xfrm>
          <a:prstGeom prst="roundRect">
            <a:avLst>
              <a:gd name="adj" fmla="val 11346"/>
            </a:avLst>
          </a:prstGeom>
          <a:solidFill>
            <a:srgbClr val="ADD8E6"/>
          </a:solidFill>
          <a:ln w="7620">
            <a:solidFill>
              <a:srgbClr val="93BECC"/>
            </a:solidFill>
            <a:prstDash val="solid"/>
          </a:ln>
        </p:spPr>
      </p:sp>
      <p:sp>
        <p:nvSpPr>
          <p:cNvPr id="16" name="Text 13"/>
          <p:cNvSpPr/>
          <p:nvPr/>
        </p:nvSpPr>
        <p:spPr>
          <a:xfrm>
            <a:off x="7543919" y="6398657"/>
            <a:ext cx="6137672" cy="235744"/>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MTBF: </a:t>
            </a:r>
            <a:r>
              <a:rPr lang="en-US" sz="1150" b="1" dirty="0">
                <a:solidFill>
                  <a:srgbClr val="000000"/>
                </a:solidFill>
                <a:latin typeface="Inter" pitchFamily="34" charset="0"/>
                <a:ea typeface="Inter" pitchFamily="34" charset="-122"/>
                <a:cs typeface="Inter" pitchFamily="34" charset="-120"/>
              </a:rPr>
              <a:t>6000 hours</a:t>
            </a:r>
            <a:r>
              <a:rPr lang="en-US" sz="1150" dirty="0">
                <a:solidFill>
                  <a:srgbClr val="000000"/>
                </a:solidFill>
                <a:latin typeface="Inter" pitchFamily="34" charset="0"/>
                <a:ea typeface="Inter" pitchFamily="34" charset="-122"/>
                <a:cs typeface="Inter" pitchFamily="34" charset="-120"/>
              </a:rPr>
              <a:t> (+50%) | MTTR: </a:t>
            </a:r>
            <a:r>
              <a:rPr lang="en-US" sz="1150" b="1" dirty="0">
                <a:solidFill>
                  <a:srgbClr val="000000"/>
                </a:solidFill>
                <a:latin typeface="Inter" pitchFamily="34" charset="0"/>
                <a:ea typeface="Inter" pitchFamily="34" charset="-122"/>
                <a:cs typeface="Inter" pitchFamily="34" charset="-120"/>
              </a:rPr>
              <a:t>12 hours</a:t>
            </a:r>
            <a:r>
              <a:rPr lang="en-US" sz="1150" dirty="0">
                <a:solidFill>
                  <a:srgbClr val="000000"/>
                </a:solidFill>
                <a:latin typeface="Inter" pitchFamily="34" charset="0"/>
                <a:ea typeface="Inter" pitchFamily="34" charset="-122"/>
                <a:cs typeface="Inter" pitchFamily="34" charset="-120"/>
              </a:rPr>
              <a:t> (-40%)</a:t>
            </a:r>
            <a:endParaRPr lang="en-US" sz="1150" dirty="0"/>
          </a:p>
        </p:txBody>
      </p:sp>
      <p:sp>
        <p:nvSpPr>
          <p:cNvPr id="17" name="Shape 14"/>
          <p:cNvSpPr/>
          <p:nvPr/>
        </p:nvSpPr>
        <p:spPr>
          <a:xfrm>
            <a:off x="793790" y="6936819"/>
            <a:ext cx="6447711" cy="545783"/>
          </a:xfrm>
          <a:prstGeom prst="roundRect">
            <a:avLst>
              <a:gd name="adj" fmla="val 11346"/>
            </a:avLst>
          </a:prstGeom>
          <a:solidFill>
            <a:srgbClr val="ADD8E6"/>
          </a:solidFill>
          <a:ln w="7620">
            <a:solidFill>
              <a:srgbClr val="93BECC"/>
            </a:solidFill>
            <a:prstDash val="solid"/>
          </a:ln>
        </p:spPr>
      </p:sp>
      <p:sp>
        <p:nvSpPr>
          <p:cNvPr id="18" name="Text 15"/>
          <p:cNvSpPr/>
          <p:nvPr/>
        </p:nvSpPr>
        <p:spPr>
          <a:xfrm>
            <a:off x="948809" y="7091839"/>
            <a:ext cx="6137672" cy="235744"/>
          </a:xfrm>
          <a:prstGeom prst="rect">
            <a:avLst/>
          </a:prstGeom>
          <a:noFill/>
          <a:ln/>
        </p:spPr>
        <p:txBody>
          <a:bodyPr wrap="none" lIns="0" tIns="0" rIns="0" bIns="0" rtlCol="0" anchor="t"/>
          <a:lstStyle/>
          <a:p>
            <a:pPr marL="0" indent="0" algn="l">
              <a:lnSpc>
                <a:spcPts val="1850"/>
              </a:lnSpc>
              <a:buNone/>
            </a:pPr>
            <a:r>
              <a:rPr lang="en-US" sz="1150" b="1" dirty="0">
                <a:solidFill>
                  <a:srgbClr val="000000"/>
                </a:solidFill>
                <a:latin typeface="Inter" pitchFamily="34" charset="0"/>
                <a:ea typeface="Inter" pitchFamily="34" charset="-122"/>
                <a:cs typeface="Inter" pitchFamily="34" charset="-120"/>
              </a:rPr>
              <a:t>No refill delays</a:t>
            </a:r>
            <a:r>
              <a:rPr lang="en-US" sz="1150" dirty="0">
                <a:solidFill>
                  <a:srgbClr val="000000"/>
                </a:solidFill>
                <a:latin typeface="Inter" pitchFamily="34" charset="0"/>
                <a:ea typeface="Inter" pitchFamily="34" charset="-122"/>
                <a:cs typeface="Inter" pitchFamily="34" charset="-120"/>
              </a:rPr>
              <a:t> (continuous operation)</a:t>
            </a:r>
            <a:endParaRPr lang="en-US" sz="1150" dirty="0"/>
          </a:p>
        </p:txBody>
      </p:sp>
      <p:sp>
        <p:nvSpPr>
          <p:cNvPr id="19" name="Shape 16"/>
          <p:cNvSpPr/>
          <p:nvPr/>
        </p:nvSpPr>
        <p:spPr>
          <a:xfrm>
            <a:off x="7388900" y="6936819"/>
            <a:ext cx="6447711" cy="545783"/>
          </a:xfrm>
          <a:prstGeom prst="roundRect">
            <a:avLst>
              <a:gd name="adj" fmla="val 11346"/>
            </a:avLst>
          </a:prstGeom>
          <a:solidFill>
            <a:srgbClr val="ADD8E6"/>
          </a:solidFill>
          <a:ln w="7620">
            <a:solidFill>
              <a:srgbClr val="93BECC"/>
            </a:solidFill>
            <a:prstDash val="solid"/>
          </a:ln>
        </p:spPr>
      </p:sp>
      <p:sp>
        <p:nvSpPr>
          <p:cNvPr id="20" name="Text 17"/>
          <p:cNvSpPr/>
          <p:nvPr/>
        </p:nvSpPr>
        <p:spPr>
          <a:xfrm>
            <a:off x="7543919" y="7091839"/>
            <a:ext cx="6137672" cy="235744"/>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Paint consumption: </a:t>
            </a:r>
            <a:r>
              <a:rPr lang="en-US" sz="1150" b="1" dirty="0">
                <a:solidFill>
                  <a:srgbClr val="000000"/>
                </a:solidFill>
                <a:latin typeface="Inter" pitchFamily="34" charset="0"/>
                <a:ea typeface="Inter" pitchFamily="34" charset="-122"/>
                <a:cs typeface="Inter" pitchFamily="34" charset="-120"/>
              </a:rPr>
              <a:t>480 liters</a:t>
            </a:r>
            <a:r>
              <a:rPr lang="en-US" sz="1150" dirty="0">
                <a:solidFill>
                  <a:srgbClr val="000000"/>
                </a:solidFill>
                <a:latin typeface="Inter" pitchFamily="34" charset="0"/>
                <a:ea typeface="Inter" pitchFamily="34" charset="-122"/>
                <a:cs typeface="Inter" pitchFamily="34" charset="-120"/>
              </a:rPr>
              <a:t> daily (-20%)</a:t>
            </a:r>
            <a:endParaRPr lang="en-US" sz="1150" dirty="0"/>
          </a:p>
        </p:txBody>
      </p:sp>
      <p:sp>
        <p:nvSpPr>
          <p:cNvPr id="21" name="Rectangle 20">
            <a:extLst>
              <a:ext uri="{FF2B5EF4-FFF2-40B4-BE49-F238E27FC236}">
                <a16:creationId xmlns:a16="http://schemas.microsoft.com/office/drawing/2014/main" id="{1EB174B7-4F51-E56C-EC45-93D83E84F7C7}"/>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28625" y="336709"/>
            <a:ext cx="6743938" cy="382786"/>
          </a:xfrm>
          <a:prstGeom prst="rect">
            <a:avLst/>
          </a:prstGeom>
          <a:noFill/>
          <a:ln/>
        </p:spPr>
        <p:txBody>
          <a:bodyPr wrap="none" lIns="0" tIns="0" rIns="0" bIns="0" rtlCol="0" anchor="t"/>
          <a:lstStyle/>
          <a:p>
            <a:pPr marL="0" indent="0" algn="l">
              <a:lnSpc>
                <a:spcPts val="3000"/>
              </a:lnSpc>
              <a:buNone/>
            </a:pPr>
            <a:r>
              <a:rPr lang="en-US" sz="2400" b="1" dirty="0">
                <a:solidFill>
                  <a:srgbClr val="000000"/>
                </a:solidFill>
                <a:latin typeface="Inter Bold" pitchFamily="34" charset="0"/>
                <a:ea typeface="Inter Bold" pitchFamily="34" charset="-122"/>
                <a:cs typeface="Inter Bold" pitchFamily="34" charset="-120"/>
              </a:rPr>
              <a:t>Baseline vs. Automated System Performance</a:t>
            </a:r>
            <a:endParaRPr lang="en-US" sz="2400" dirty="0"/>
          </a:p>
        </p:txBody>
      </p:sp>
      <p:sp>
        <p:nvSpPr>
          <p:cNvPr id="3" name="Text 1"/>
          <p:cNvSpPr/>
          <p:nvPr/>
        </p:nvSpPr>
        <p:spPr>
          <a:xfrm>
            <a:off x="428624" y="964406"/>
            <a:ext cx="13009973" cy="731345"/>
          </a:xfrm>
          <a:prstGeom prst="rect">
            <a:avLst/>
          </a:prstGeom>
          <a:noFill/>
          <a:ln/>
        </p:spPr>
        <p:txBody>
          <a:bodyPr wrap="none" lIns="0" tIns="0" rIns="0" bIns="0" rtlCol="0" anchor="t"/>
          <a:lstStyle/>
          <a:p>
            <a:pPr marL="0" indent="0" algn="l">
              <a:lnSpc>
                <a:spcPts val="1500"/>
              </a:lnSpc>
              <a:buNone/>
            </a:pPr>
            <a:r>
              <a:rPr lang="en-US" dirty="0">
                <a:solidFill>
                  <a:srgbClr val="272525"/>
                </a:solidFill>
                <a:latin typeface="Inter" pitchFamily="34" charset="0"/>
                <a:ea typeface="Inter" pitchFamily="34" charset="-122"/>
              </a:rPr>
              <a:t>Comprehensive data collection reveals significant performance improvements across all critical operational metrics:</a:t>
            </a:r>
          </a:p>
        </p:txBody>
      </p:sp>
      <p:pic>
        <p:nvPicPr>
          <p:cNvPr id="4" name="Image 0" descr="preencoded.png"/>
          <p:cNvPicPr>
            <a:picLocks noChangeAspect="1"/>
          </p:cNvPicPr>
          <p:nvPr/>
        </p:nvPicPr>
        <p:blipFill>
          <a:blip r:embed="rId3"/>
          <a:stretch>
            <a:fillRect/>
          </a:stretch>
        </p:blipFill>
        <p:spPr>
          <a:xfrm>
            <a:off x="328775" y="1953265"/>
            <a:ext cx="9398846" cy="5374423"/>
          </a:xfrm>
          <a:prstGeom prst="rect">
            <a:avLst/>
          </a:prstGeom>
        </p:spPr>
      </p:pic>
      <p:sp>
        <p:nvSpPr>
          <p:cNvPr id="5" name="Shape 2"/>
          <p:cNvSpPr/>
          <p:nvPr/>
        </p:nvSpPr>
        <p:spPr>
          <a:xfrm flipH="1">
            <a:off x="4438033" y="7189151"/>
            <a:ext cx="122396" cy="122515"/>
          </a:xfrm>
          <a:prstGeom prst="roundRect">
            <a:avLst>
              <a:gd name="adj" fmla="val 14942"/>
            </a:avLst>
          </a:prstGeom>
          <a:solidFill>
            <a:srgbClr val="151738"/>
          </a:solidFill>
          <a:ln/>
        </p:spPr>
      </p:sp>
      <p:sp>
        <p:nvSpPr>
          <p:cNvPr id="6" name="Text 3"/>
          <p:cNvSpPr/>
          <p:nvPr/>
        </p:nvSpPr>
        <p:spPr>
          <a:xfrm>
            <a:off x="4670563" y="7189152"/>
            <a:ext cx="951547" cy="122515"/>
          </a:xfrm>
          <a:prstGeom prst="rect">
            <a:avLst/>
          </a:prstGeom>
          <a:noFill/>
          <a:ln/>
        </p:spPr>
        <p:txBody>
          <a:bodyPr wrap="none" lIns="0" tIns="0" rIns="0" bIns="0" rtlCol="0" anchor="t"/>
          <a:lstStyle/>
          <a:p>
            <a:pPr marL="0" indent="0" algn="l">
              <a:lnSpc>
                <a:spcPts val="950"/>
              </a:lnSpc>
              <a:buNone/>
            </a:pPr>
            <a:r>
              <a:rPr lang="en-US" sz="950" dirty="0">
                <a:solidFill>
                  <a:srgbClr val="272525"/>
                </a:solidFill>
                <a:latin typeface="Inter" pitchFamily="34" charset="0"/>
                <a:ea typeface="Inter" pitchFamily="34" charset="-122"/>
                <a:cs typeface="Inter" pitchFamily="34" charset="-120"/>
              </a:rPr>
              <a:t>Baseline System</a:t>
            </a:r>
            <a:endParaRPr lang="en-US" sz="950" dirty="0"/>
          </a:p>
        </p:txBody>
      </p:sp>
      <p:sp>
        <p:nvSpPr>
          <p:cNvPr id="7" name="Shape 4"/>
          <p:cNvSpPr/>
          <p:nvPr/>
        </p:nvSpPr>
        <p:spPr>
          <a:xfrm>
            <a:off x="5847733" y="7147927"/>
            <a:ext cx="122396" cy="122396"/>
          </a:xfrm>
          <a:prstGeom prst="roundRect">
            <a:avLst>
              <a:gd name="adj" fmla="val 14942"/>
            </a:avLst>
          </a:prstGeom>
          <a:solidFill>
            <a:srgbClr val="393F9B"/>
          </a:solidFill>
          <a:ln/>
        </p:spPr>
      </p:sp>
      <p:sp>
        <p:nvSpPr>
          <p:cNvPr id="8" name="Text 5"/>
          <p:cNvSpPr/>
          <p:nvPr/>
        </p:nvSpPr>
        <p:spPr>
          <a:xfrm>
            <a:off x="6031089" y="7167661"/>
            <a:ext cx="1093946" cy="122515"/>
          </a:xfrm>
          <a:prstGeom prst="rect">
            <a:avLst/>
          </a:prstGeom>
          <a:noFill/>
          <a:ln/>
        </p:spPr>
        <p:txBody>
          <a:bodyPr wrap="none" lIns="0" tIns="0" rIns="0" bIns="0" rtlCol="0" anchor="t"/>
          <a:lstStyle/>
          <a:p>
            <a:pPr marL="0" indent="0" algn="l">
              <a:lnSpc>
                <a:spcPts val="950"/>
              </a:lnSpc>
              <a:buNone/>
            </a:pPr>
            <a:r>
              <a:rPr lang="en-US" sz="950" dirty="0">
                <a:solidFill>
                  <a:srgbClr val="272525"/>
                </a:solidFill>
                <a:latin typeface="Inter" pitchFamily="34" charset="0"/>
                <a:ea typeface="Inter" pitchFamily="34" charset="-122"/>
                <a:cs typeface="Inter" pitchFamily="34" charset="-120"/>
              </a:rPr>
              <a:t>Automated System</a:t>
            </a:r>
            <a:endParaRPr lang="en-US" sz="950" dirty="0"/>
          </a:p>
        </p:txBody>
      </p:sp>
      <p:sp>
        <p:nvSpPr>
          <p:cNvPr id="9" name="Text 6"/>
          <p:cNvSpPr/>
          <p:nvPr/>
        </p:nvSpPr>
        <p:spPr>
          <a:xfrm>
            <a:off x="10068672" y="4640477"/>
            <a:ext cx="4232953" cy="1267163"/>
          </a:xfrm>
          <a:prstGeom prst="rect">
            <a:avLst/>
          </a:prstGeom>
          <a:noFill/>
          <a:ln/>
        </p:spPr>
        <p:txBody>
          <a:bodyPr wrap="none" lIns="0" tIns="0" rIns="0" bIns="0" rtlCol="0" anchor="t"/>
          <a:lstStyle/>
          <a:p>
            <a:pPr marL="0" indent="0" algn="l">
              <a:lnSpc>
                <a:spcPts val="1500"/>
              </a:lnSpc>
              <a:buNone/>
            </a:pPr>
            <a:r>
              <a:rPr lang="en-US" b="1" dirty="0">
                <a:solidFill>
                  <a:srgbClr val="272525"/>
                </a:solidFill>
                <a:latin typeface="Inter" pitchFamily="34" charset="0"/>
                <a:ea typeface="Inter" pitchFamily="34" charset="-122"/>
              </a:rPr>
              <a:t>Key Improvements</a:t>
            </a:r>
          </a:p>
          <a:p>
            <a:pPr marL="0" indent="0" algn="l">
              <a:lnSpc>
                <a:spcPts val="1500"/>
              </a:lnSpc>
              <a:buNone/>
            </a:pPr>
            <a:endParaRPr lang="en-US" dirty="0">
              <a:solidFill>
                <a:srgbClr val="272525"/>
              </a:solidFill>
              <a:latin typeface="Inter" pitchFamily="34" charset="0"/>
              <a:ea typeface="Inter" pitchFamily="34" charset="-122"/>
            </a:endParaRP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50% increase in MTBF reliability</a:t>
            </a: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40% reduction in repair time</a:t>
            </a: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20% boost in daily production capacity</a:t>
            </a:r>
          </a:p>
          <a:p>
            <a:pPr marL="0" indent="0" algn="l">
              <a:lnSpc>
                <a:spcPts val="1500"/>
              </a:lnSpc>
              <a:buNone/>
            </a:pPr>
            <a:endParaRPr lang="en-US" sz="1200" dirty="0"/>
          </a:p>
        </p:txBody>
      </p:sp>
      <p:sp>
        <p:nvSpPr>
          <p:cNvPr id="13" name="Text 10"/>
          <p:cNvSpPr/>
          <p:nvPr/>
        </p:nvSpPr>
        <p:spPr>
          <a:xfrm>
            <a:off x="10068672" y="3448272"/>
            <a:ext cx="4232953" cy="1352328"/>
          </a:xfrm>
          <a:prstGeom prst="rect">
            <a:avLst/>
          </a:prstGeom>
          <a:noFill/>
          <a:ln/>
        </p:spPr>
        <p:txBody>
          <a:bodyPr wrap="none" lIns="0" tIns="0" rIns="0" bIns="0" rtlCol="0" anchor="t"/>
          <a:lstStyle/>
          <a:p>
            <a:pPr marL="0" indent="0" algn="l">
              <a:lnSpc>
                <a:spcPts val="1500"/>
              </a:lnSpc>
              <a:buNone/>
            </a:pPr>
            <a:r>
              <a:rPr lang="en-US" b="1" dirty="0">
                <a:solidFill>
                  <a:srgbClr val="272525"/>
                </a:solidFill>
                <a:latin typeface="Inter" pitchFamily="34" charset="0"/>
                <a:ea typeface="Inter" pitchFamily="34" charset="-122"/>
              </a:rPr>
              <a:t>Efficiency Gains</a:t>
            </a:r>
          </a:p>
          <a:p>
            <a:pPr marL="0" indent="0" algn="l">
              <a:lnSpc>
                <a:spcPts val="1500"/>
              </a:lnSpc>
              <a:buNone/>
            </a:pPr>
            <a:endParaRPr lang="en-US" dirty="0">
              <a:solidFill>
                <a:srgbClr val="272525"/>
              </a:solidFill>
              <a:latin typeface="Inter" pitchFamily="34" charset="0"/>
              <a:ea typeface="Inter" pitchFamily="34" charset="-122"/>
            </a:endParaRP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18% higher paint transfer efficiency</a:t>
            </a: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20% reduction in material consumption</a:t>
            </a:r>
          </a:p>
          <a:p>
            <a:pPr marL="171450" indent="-171450">
              <a:lnSpc>
                <a:spcPts val="1500"/>
              </a:lnSpc>
              <a:buFont typeface="Courier New" panose="02070309020205020404" pitchFamily="49" charset="0"/>
              <a:buChar char="o"/>
            </a:pPr>
            <a:r>
              <a:rPr lang="en-US" dirty="0">
                <a:solidFill>
                  <a:srgbClr val="272525"/>
                </a:solidFill>
                <a:latin typeface="Inter" pitchFamily="34" charset="0"/>
                <a:ea typeface="Inter" pitchFamily="34" charset="-122"/>
              </a:rPr>
              <a:t>67% decrease in defect rates (3% to 1%)</a:t>
            </a:r>
          </a:p>
          <a:p>
            <a:pPr>
              <a:lnSpc>
                <a:spcPts val="1500"/>
              </a:lnSpc>
            </a:pPr>
            <a:endParaRPr lang="en-US" sz="1200" dirty="0"/>
          </a:p>
          <a:p>
            <a:pPr marL="0" indent="0" algn="l">
              <a:lnSpc>
                <a:spcPts val="1500"/>
              </a:lnSpc>
              <a:buNone/>
            </a:pPr>
            <a:endParaRPr lang="en-US" sz="1200" dirty="0"/>
          </a:p>
        </p:txBody>
      </p:sp>
      <p:sp>
        <p:nvSpPr>
          <p:cNvPr id="14" name="Text 11"/>
          <p:cNvSpPr/>
          <p:nvPr/>
        </p:nvSpPr>
        <p:spPr>
          <a:xfrm>
            <a:off x="10474058" y="2916226"/>
            <a:ext cx="6737152" cy="195977"/>
          </a:xfrm>
          <a:prstGeom prst="rect">
            <a:avLst/>
          </a:prstGeom>
          <a:noFill/>
          <a:ln/>
        </p:spPr>
        <p:txBody>
          <a:bodyPr wrap="none" lIns="0" tIns="0" rIns="0" bIns="0" rtlCol="0" anchor="t"/>
          <a:lstStyle/>
          <a:p>
            <a:pPr marL="342900" indent="-342900" algn="l">
              <a:lnSpc>
                <a:spcPts val="1500"/>
              </a:lnSpc>
              <a:buSzPct val="100000"/>
              <a:buChar char="•"/>
            </a:pPr>
            <a:endParaRPr lang="en-US" sz="950" dirty="0"/>
          </a:p>
        </p:txBody>
      </p:sp>
      <p:sp>
        <p:nvSpPr>
          <p:cNvPr id="16" name="Text 13"/>
          <p:cNvSpPr/>
          <p:nvPr/>
        </p:nvSpPr>
        <p:spPr>
          <a:xfrm>
            <a:off x="10501778" y="3754122"/>
            <a:ext cx="6737152" cy="195977"/>
          </a:xfrm>
          <a:prstGeom prst="rect">
            <a:avLst/>
          </a:prstGeom>
          <a:noFill/>
          <a:ln/>
        </p:spPr>
        <p:txBody>
          <a:bodyPr wrap="none" lIns="0" tIns="0" rIns="0" bIns="0" rtlCol="0" anchor="t"/>
          <a:lstStyle/>
          <a:p>
            <a:pPr marL="342900" indent="-342900" algn="l">
              <a:lnSpc>
                <a:spcPts val="1500"/>
              </a:lnSpc>
              <a:buSzPct val="100000"/>
              <a:buChar char="•"/>
            </a:pPr>
            <a:endParaRPr lang="en-US" sz="950" dirty="0"/>
          </a:p>
        </p:txBody>
      </p:sp>
      <p:sp>
        <p:nvSpPr>
          <p:cNvPr id="10" name="Rectangle 9">
            <a:extLst>
              <a:ext uri="{FF2B5EF4-FFF2-40B4-BE49-F238E27FC236}">
                <a16:creationId xmlns:a16="http://schemas.microsoft.com/office/drawing/2014/main" id="{1E21C37D-668C-68DD-B69F-BCB61E34EFDE}"/>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2714" y="599242"/>
            <a:ext cx="11814453" cy="681038"/>
          </a:xfrm>
          <a:prstGeom prst="rect">
            <a:avLst/>
          </a:prstGeom>
          <a:noFill/>
          <a:ln/>
        </p:spPr>
        <p:txBody>
          <a:bodyPr wrap="none" lIns="0" tIns="0" rIns="0" bIns="0" rtlCol="0" anchor="t"/>
          <a:lstStyle/>
          <a:p>
            <a:pPr marL="0" indent="0" algn="l">
              <a:lnSpc>
                <a:spcPts val="5350"/>
              </a:lnSpc>
              <a:buNone/>
            </a:pPr>
            <a:r>
              <a:rPr lang="en-US" sz="4250" b="1" dirty="0">
                <a:solidFill>
                  <a:srgbClr val="000000"/>
                </a:solidFill>
                <a:latin typeface="Inter Bold" pitchFamily="34" charset="0"/>
                <a:ea typeface="Inter Bold" pitchFamily="34" charset="-122"/>
                <a:cs typeface="Inter Bold" pitchFamily="34" charset="-120"/>
              </a:rPr>
              <a:t>Simulation Results and Performance Metrics</a:t>
            </a:r>
            <a:endParaRPr lang="en-US" sz="4250" dirty="0"/>
          </a:p>
        </p:txBody>
      </p:sp>
      <p:sp>
        <p:nvSpPr>
          <p:cNvPr id="3" name="Text 1"/>
          <p:cNvSpPr/>
          <p:nvPr/>
        </p:nvSpPr>
        <p:spPr>
          <a:xfrm>
            <a:off x="762714" y="1668542"/>
            <a:ext cx="13104971" cy="697468"/>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JaamSim discrete event simulation modeling demonstrates substantial operational improvements across the production line. The automated electrostatic system delivers measurable gains in throughput, efficiency, and quality consistency.</a:t>
            </a:r>
            <a:endParaRPr lang="en-US" sz="1700" dirty="0"/>
          </a:p>
        </p:txBody>
      </p:sp>
      <p:sp>
        <p:nvSpPr>
          <p:cNvPr id="4" name="Text 2"/>
          <p:cNvSpPr/>
          <p:nvPr/>
        </p:nvSpPr>
        <p:spPr>
          <a:xfrm>
            <a:off x="762714" y="2767727"/>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+20%</a:t>
            </a:r>
            <a:endParaRPr lang="en-US" sz="5650" dirty="0"/>
          </a:p>
        </p:txBody>
      </p:sp>
      <p:sp>
        <p:nvSpPr>
          <p:cNvPr id="5" name="Text 3"/>
          <p:cNvSpPr/>
          <p:nvPr/>
        </p:nvSpPr>
        <p:spPr>
          <a:xfrm>
            <a:off x="904518" y="3759160"/>
            <a:ext cx="2788325"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Throughput Increase</a:t>
            </a:r>
            <a:endParaRPr lang="en-US" sz="2100" dirty="0"/>
          </a:p>
        </p:txBody>
      </p:sp>
      <p:sp>
        <p:nvSpPr>
          <p:cNvPr id="6" name="Text 4"/>
          <p:cNvSpPr/>
          <p:nvPr/>
        </p:nvSpPr>
        <p:spPr>
          <a:xfrm>
            <a:off x="762714" y="4230410"/>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From 90,000 to 108,000 bottles per day</a:t>
            </a:r>
            <a:endParaRPr lang="en-US" sz="1700" dirty="0"/>
          </a:p>
        </p:txBody>
      </p:sp>
      <p:sp>
        <p:nvSpPr>
          <p:cNvPr id="7" name="Text 5"/>
          <p:cNvSpPr/>
          <p:nvPr/>
        </p:nvSpPr>
        <p:spPr>
          <a:xfrm>
            <a:off x="4107061" y="2767727"/>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-17%</a:t>
            </a:r>
            <a:endParaRPr lang="en-US" sz="5650" dirty="0"/>
          </a:p>
        </p:txBody>
      </p:sp>
      <p:sp>
        <p:nvSpPr>
          <p:cNvPr id="8" name="Text 6"/>
          <p:cNvSpPr/>
          <p:nvPr/>
        </p:nvSpPr>
        <p:spPr>
          <a:xfrm>
            <a:off x="4191000" y="3759160"/>
            <a:ext cx="2903934"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Cycle Time Reduction</a:t>
            </a:r>
            <a:endParaRPr lang="en-US" sz="2100" dirty="0"/>
          </a:p>
        </p:txBody>
      </p:sp>
      <p:sp>
        <p:nvSpPr>
          <p:cNvPr id="9" name="Text 7"/>
          <p:cNvSpPr/>
          <p:nvPr/>
        </p:nvSpPr>
        <p:spPr>
          <a:xfrm>
            <a:off x="4107061" y="4230410"/>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Average processing time decreased to 0.80 seconds</a:t>
            </a:r>
            <a:endParaRPr lang="en-US" sz="1700" dirty="0"/>
          </a:p>
        </p:txBody>
      </p:sp>
      <p:sp>
        <p:nvSpPr>
          <p:cNvPr id="10" name="Text 8"/>
          <p:cNvSpPr/>
          <p:nvPr/>
        </p:nvSpPr>
        <p:spPr>
          <a:xfrm>
            <a:off x="7451408" y="2767727"/>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+8%</a:t>
            </a:r>
            <a:endParaRPr lang="en-US" sz="5650" dirty="0"/>
          </a:p>
        </p:txBody>
      </p:sp>
      <p:sp>
        <p:nvSpPr>
          <p:cNvPr id="11" name="Text 9"/>
          <p:cNvSpPr/>
          <p:nvPr/>
        </p:nvSpPr>
        <p:spPr>
          <a:xfrm>
            <a:off x="7625239" y="3759160"/>
            <a:ext cx="2724269"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Utilization Gain</a:t>
            </a:r>
            <a:endParaRPr lang="en-US" sz="2100" dirty="0"/>
          </a:p>
        </p:txBody>
      </p:sp>
      <p:sp>
        <p:nvSpPr>
          <p:cNvPr id="12" name="Text 10"/>
          <p:cNvSpPr/>
          <p:nvPr/>
        </p:nvSpPr>
        <p:spPr>
          <a:xfrm>
            <a:off x="7451408" y="4230410"/>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Equipment utilization improved from 82% to 90%</a:t>
            </a:r>
            <a:endParaRPr lang="en-US" sz="1700" dirty="0"/>
          </a:p>
        </p:txBody>
      </p:sp>
      <p:sp>
        <p:nvSpPr>
          <p:cNvPr id="13" name="Text 11"/>
          <p:cNvSpPr/>
          <p:nvPr/>
        </p:nvSpPr>
        <p:spPr>
          <a:xfrm>
            <a:off x="10795754" y="2767727"/>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-40%</a:t>
            </a:r>
            <a:endParaRPr lang="en-US" sz="5650" dirty="0"/>
          </a:p>
        </p:txBody>
      </p:sp>
      <p:sp>
        <p:nvSpPr>
          <p:cNvPr id="14" name="Text 12"/>
          <p:cNvSpPr/>
          <p:nvPr/>
        </p:nvSpPr>
        <p:spPr>
          <a:xfrm>
            <a:off x="10951726" y="3759160"/>
            <a:ext cx="2759988"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Downtime Reduction</a:t>
            </a:r>
            <a:endParaRPr lang="en-US" sz="2100" dirty="0"/>
          </a:p>
        </p:txBody>
      </p:sp>
      <p:sp>
        <p:nvSpPr>
          <p:cNvPr id="15" name="Text 13"/>
          <p:cNvSpPr/>
          <p:nvPr/>
        </p:nvSpPr>
        <p:spPr>
          <a:xfrm>
            <a:off x="10795754" y="4230410"/>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Annual downtime cut from 500 to 300 hours</a:t>
            </a:r>
            <a:endParaRPr lang="en-US" sz="1700" dirty="0"/>
          </a:p>
        </p:txBody>
      </p:sp>
      <p:sp>
        <p:nvSpPr>
          <p:cNvPr id="16" name="Text 14"/>
          <p:cNvSpPr/>
          <p:nvPr/>
        </p:nvSpPr>
        <p:spPr>
          <a:xfrm>
            <a:off x="4107061" y="5472708"/>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+18%</a:t>
            </a:r>
            <a:endParaRPr lang="en-US" sz="5650" dirty="0"/>
          </a:p>
        </p:txBody>
      </p:sp>
      <p:sp>
        <p:nvSpPr>
          <p:cNvPr id="17" name="Text 15"/>
          <p:cNvSpPr/>
          <p:nvPr/>
        </p:nvSpPr>
        <p:spPr>
          <a:xfrm>
            <a:off x="4280892" y="6464141"/>
            <a:ext cx="2724269"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Transfer Efficiency</a:t>
            </a:r>
            <a:endParaRPr lang="en-US" sz="2100" dirty="0"/>
          </a:p>
        </p:txBody>
      </p:sp>
      <p:sp>
        <p:nvSpPr>
          <p:cNvPr id="18" name="Text 16"/>
          <p:cNvSpPr/>
          <p:nvPr/>
        </p:nvSpPr>
        <p:spPr>
          <a:xfrm>
            <a:off x="4107061" y="6935391"/>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Paint application efficiency increased significantly</a:t>
            </a:r>
            <a:endParaRPr lang="en-US" sz="1700" dirty="0"/>
          </a:p>
        </p:txBody>
      </p:sp>
      <p:sp>
        <p:nvSpPr>
          <p:cNvPr id="19" name="Text 17"/>
          <p:cNvSpPr/>
          <p:nvPr/>
        </p:nvSpPr>
        <p:spPr>
          <a:xfrm>
            <a:off x="7451408" y="5472708"/>
            <a:ext cx="3071932" cy="719138"/>
          </a:xfrm>
          <a:prstGeom prst="rect">
            <a:avLst/>
          </a:prstGeom>
          <a:noFill/>
          <a:ln/>
        </p:spPr>
        <p:txBody>
          <a:bodyPr wrap="none" lIns="0" tIns="0" rIns="0" bIns="0" rtlCol="0" anchor="t"/>
          <a:lstStyle/>
          <a:p>
            <a:pPr marL="0" indent="0" algn="ctr">
              <a:lnSpc>
                <a:spcPts val="5650"/>
              </a:lnSpc>
              <a:buNone/>
            </a:pPr>
            <a:r>
              <a:rPr lang="en-US" sz="5650" b="1" dirty="0">
                <a:solidFill>
                  <a:srgbClr val="272525"/>
                </a:solidFill>
                <a:latin typeface="Inter Bold" pitchFamily="34" charset="0"/>
                <a:ea typeface="Inter Bold" pitchFamily="34" charset="-122"/>
                <a:cs typeface="Inter Bold" pitchFamily="34" charset="-120"/>
              </a:rPr>
              <a:t>+11%</a:t>
            </a:r>
            <a:endParaRPr lang="en-US" sz="5650" dirty="0"/>
          </a:p>
        </p:txBody>
      </p:sp>
      <p:sp>
        <p:nvSpPr>
          <p:cNvPr id="20" name="Text 18"/>
          <p:cNvSpPr/>
          <p:nvPr/>
        </p:nvSpPr>
        <p:spPr>
          <a:xfrm>
            <a:off x="7625239" y="6464141"/>
            <a:ext cx="2724269" cy="340519"/>
          </a:xfrm>
          <a:prstGeom prst="rect">
            <a:avLst/>
          </a:prstGeom>
          <a:noFill/>
          <a:ln/>
        </p:spPr>
        <p:txBody>
          <a:bodyPr wrap="none" lIns="0" tIns="0" rIns="0" bIns="0" rtlCol="0" anchor="t"/>
          <a:lstStyle/>
          <a:p>
            <a:pPr marL="0" indent="0" algn="ctr">
              <a:lnSpc>
                <a:spcPts val="2650"/>
              </a:lnSpc>
              <a:buNone/>
            </a:pPr>
            <a:r>
              <a:rPr lang="en-US" sz="2100" b="1" dirty="0">
                <a:solidFill>
                  <a:srgbClr val="272525"/>
                </a:solidFill>
                <a:latin typeface="Inter Bold" pitchFamily="34" charset="0"/>
                <a:ea typeface="Inter Bold" pitchFamily="34" charset="-122"/>
                <a:cs typeface="Inter Bold" pitchFamily="34" charset="-120"/>
              </a:rPr>
              <a:t>OEE Improvement</a:t>
            </a:r>
            <a:endParaRPr lang="en-US" sz="2100" dirty="0"/>
          </a:p>
        </p:txBody>
      </p:sp>
      <p:sp>
        <p:nvSpPr>
          <p:cNvPr id="21" name="Text 19"/>
          <p:cNvSpPr/>
          <p:nvPr/>
        </p:nvSpPr>
        <p:spPr>
          <a:xfrm>
            <a:off x="7451408" y="6935391"/>
            <a:ext cx="3071932" cy="697468"/>
          </a:xfrm>
          <a:prstGeom prst="rect">
            <a:avLst/>
          </a:prstGeom>
          <a:noFill/>
          <a:ln/>
        </p:spPr>
        <p:txBody>
          <a:bodyPr wrap="square" lIns="0" tIns="0" rIns="0" bIns="0" rtlCol="0" anchor="t"/>
          <a:lstStyle/>
          <a:p>
            <a:pPr marL="0" indent="0" algn="ctr">
              <a:lnSpc>
                <a:spcPts val="2700"/>
              </a:lnSpc>
              <a:buNone/>
            </a:pPr>
            <a:r>
              <a:rPr lang="en-US" sz="1700" dirty="0">
                <a:solidFill>
                  <a:srgbClr val="272525"/>
                </a:solidFill>
                <a:latin typeface="Inter" pitchFamily="34" charset="0"/>
                <a:ea typeface="Inter" pitchFamily="34" charset="-122"/>
                <a:cs typeface="Inter" pitchFamily="34" charset="-120"/>
              </a:rPr>
              <a:t>Overall Equipment Effectiveness rose to 91%</a:t>
            </a:r>
            <a:endParaRPr lang="en-US" sz="1700" dirty="0"/>
          </a:p>
        </p:txBody>
      </p:sp>
      <p:sp>
        <p:nvSpPr>
          <p:cNvPr id="22" name="Rectangle 21">
            <a:extLst>
              <a:ext uri="{FF2B5EF4-FFF2-40B4-BE49-F238E27FC236}">
                <a16:creationId xmlns:a16="http://schemas.microsoft.com/office/drawing/2014/main" id="{D25C278F-049C-8F44-BAA2-457FCCCCE722}"/>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902" y="902375"/>
            <a:ext cx="7521059" cy="587812"/>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Predictive Maintenance Analysis</a:t>
            </a:r>
            <a:endParaRPr lang="en-US" sz="3700" dirty="0"/>
          </a:p>
        </p:txBody>
      </p:sp>
      <p:sp>
        <p:nvSpPr>
          <p:cNvPr id="4" name="Text 1"/>
          <p:cNvSpPr/>
          <p:nvPr/>
        </p:nvSpPr>
        <p:spPr>
          <a:xfrm>
            <a:off x="6260902" y="1772245"/>
            <a:ext cx="7594997" cy="601980"/>
          </a:xfrm>
          <a:prstGeom prst="rect">
            <a:avLst/>
          </a:prstGeom>
          <a:noFill/>
          <a:ln/>
        </p:spPr>
        <p:txBody>
          <a:bodyPr wrap="square" lIns="0" tIns="0" rIns="0" bIns="0" rtlCol="0" anchor="t"/>
          <a:lstStyle/>
          <a:p>
            <a:pPr marL="0" indent="0" algn="l">
              <a:lnSpc>
                <a:spcPts val="2350"/>
              </a:lnSpc>
              <a:buNone/>
            </a:pPr>
            <a:r>
              <a:rPr lang="en-US" dirty="0">
                <a:solidFill>
                  <a:srgbClr val="272525"/>
                </a:solidFill>
                <a:latin typeface="Inter" pitchFamily="34" charset="0"/>
                <a:ea typeface="Inter" pitchFamily="34" charset="-122"/>
                <a:cs typeface="Inter" pitchFamily="34" charset="-120"/>
              </a:rPr>
              <a:t>Implementing a predictive maintenance strategy significantly enhances equipment availability and operational output.</a:t>
            </a:r>
            <a:endParaRPr lang="en-US" dirty="0"/>
          </a:p>
        </p:txBody>
      </p:sp>
      <p:sp>
        <p:nvSpPr>
          <p:cNvPr id="5" name="Shape 2"/>
          <p:cNvSpPr/>
          <p:nvPr/>
        </p:nvSpPr>
        <p:spPr>
          <a:xfrm>
            <a:off x="6260902" y="2585799"/>
            <a:ext cx="7594997" cy="3626882"/>
          </a:xfrm>
          <a:prstGeom prst="roundRect">
            <a:avLst>
              <a:gd name="adj" fmla="val 2178"/>
            </a:avLst>
          </a:prstGeom>
          <a:noFill/>
          <a:ln w="7620">
            <a:solidFill>
              <a:srgbClr val="000000">
                <a:alpha val="8000"/>
              </a:srgbClr>
            </a:solidFill>
            <a:prstDash val="solid"/>
          </a:ln>
        </p:spPr>
      </p:sp>
      <p:sp>
        <p:nvSpPr>
          <p:cNvPr id="6" name="Shape 3"/>
          <p:cNvSpPr/>
          <p:nvPr/>
        </p:nvSpPr>
        <p:spPr>
          <a:xfrm>
            <a:off x="6268522" y="2593419"/>
            <a:ext cx="7579757" cy="541734"/>
          </a:xfrm>
          <a:prstGeom prst="rect">
            <a:avLst/>
          </a:prstGeom>
          <a:solidFill>
            <a:srgbClr val="FFFFFF">
              <a:alpha val="4000"/>
            </a:srgbClr>
          </a:solidFill>
          <a:ln/>
        </p:spPr>
      </p:sp>
      <p:sp>
        <p:nvSpPr>
          <p:cNvPr id="7" name="Text 4"/>
          <p:cNvSpPr/>
          <p:nvPr/>
        </p:nvSpPr>
        <p:spPr>
          <a:xfrm>
            <a:off x="6456759" y="2713792"/>
            <a:ext cx="1894046"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Metric</a:t>
            </a:r>
            <a:endParaRPr lang="en-US" sz="1450" dirty="0"/>
          </a:p>
        </p:txBody>
      </p:sp>
      <p:sp>
        <p:nvSpPr>
          <p:cNvPr id="8" name="Text 5"/>
          <p:cNvSpPr/>
          <p:nvPr/>
        </p:nvSpPr>
        <p:spPr>
          <a:xfrm>
            <a:off x="8734425" y="2713792"/>
            <a:ext cx="1132284"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Baseline</a:t>
            </a:r>
            <a:endParaRPr lang="en-US" sz="1450" dirty="0"/>
          </a:p>
        </p:txBody>
      </p:sp>
      <p:sp>
        <p:nvSpPr>
          <p:cNvPr id="9" name="Text 6"/>
          <p:cNvSpPr/>
          <p:nvPr/>
        </p:nvSpPr>
        <p:spPr>
          <a:xfrm>
            <a:off x="10250329" y="2713792"/>
            <a:ext cx="151126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New Line</a:t>
            </a:r>
            <a:endParaRPr lang="en-US" sz="1450" dirty="0"/>
          </a:p>
        </p:txBody>
      </p:sp>
      <p:sp>
        <p:nvSpPr>
          <p:cNvPr id="10" name="Text 7"/>
          <p:cNvSpPr/>
          <p:nvPr/>
        </p:nvSpPr>
        <p:spPr>
          <a:xfrm>
            <a:off x="12145208" y="2713792"/>
            <a:ext cx="151507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Improvement</a:t>
            </a:r>
            <a:endParaRPr lang="en-US" sz="1450" dirty="0"/>
          </a:p>
        </p:txBody>
      </p:sp>
      <p:sp>
        <p:nvSpPr>
          <p:cNvPr id="11" name="Shape 8"/>
          <p:cNvSpPr/>
          <p:nvPr/>
        </p:nvSpPr>
        <p:spPr>
          <a:xfrm>
            <a:off x="6268522" y="3135154"/>
            <a:ext cx="7579757" cy="842724"/>
          </a:xfrm>
          <a:prstGeom prst="rect">
            <a:avLst/>
          </a:prstGeom>
          <a:solidFill>
            <a:srgbClr val="000000">
              <a:alpha val="4000"/>
            </a:srgbClr>
          </a:solidFill>
          <a:ln/>
        </p:spPr>
      </p:sp>
      <p:sp>
        <p:nvSpPr>
          <p:cNvPr id="12" name="Text 9"/>
          <p:cNvSpPr/>
          <p:nvPr/>
        </p:nvSpPr>
        <p:spPr>
          <a:xfrm>
            <a:off x="6456759" y="3255526"/>
            <a:ext cx="1894046" cy="60198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Unplanned Downtime</a:t>
            </a:r>
            <a:endParaRPr lang="en-US" sz="1450" dirty="0"/>
          </a:p>
        </p:txBody>
      </p:sp>
      <p:sp>
        <p:nvSpPr>
          <p:cNvPr id="13" name="Text 10"/>
          <p:cNvSpPr/>
          <p:nvPr/>
        </p:nvSpPr>
        <p:spPr>
          <a:xfrm>
            <a:off x="8734425" y="3255526"/>
            <a:ext cx="1132284"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500 hrs/yr</a:t>
            </a:r>
            <a:endParaRPr lang="en-US" sz="1450" dirty="0"/>
          </a:p>
        </p:txBody>
      </p:sp>
      <p:sp>
        <p:nvSpPr>
          <p:cNvPr id="14" name="Text 11"/>
          <p:cNvSpPr/>
          <p:nvPr/>
        </p:nvSpPr>
        <p:spPr>
          <a:xfrm>
            <a:off x="10250329" y="3255526"/>
            <a:ext cx="151126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300 hrs/yr</a:t>
            </a:r>
            <a:endParaRPr lang="en-US" sz="1450" dirty="0"/>
          </a:p>
        </p:txBody>
      </p:sp>
      <p:sp>
        <p:nvSpPr>
          <p:cNvPr id="15" name="Text 12"/>
          <p:cNvSpPr/>
          <p:nvPr/>
        </p:nvSpPr>
        <p:spPr>
          <a:xfrm>
            <a:off x="12145208" y="3255526"/>
            <a:ext cx="151507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–40%</a:t>
            </a:r>
            <a:endParaRPr lang="en-US" sz="1450" dirty="0"/>
          </a:p>
        </p:txBody>
      </p:sp>
      <p:sp>
        <p:nvSpPr>
          <p:cNvPr id="16" name="Shape 13"/>
          <p:cNvSpPr/>
          <p:nvPr/>
        </p:nvSpPr>
        <p:spPr>
          <a:xfrm>
            <a:off x="6268522" y="3977878"/>
            <a:ext cx="7579757" cy="842724"/>
          </a:xfrm>
          <a:prstGeom prst="rect">
            <a:avLst/>
          </a:prstGeom>
          <a:solidFill>
            <a:srgbClr val="FFFFFF">
              <a:alpha val="4000"/>
            </a:srgbClr>
          </a:solidFill>
          <a:ln/>
        </p:spPr>
      </p:sp>
      <p:sp>
        <p:nvSpPr>
          <p:cNvPr id="17" name="Text 14"/>
          <p:cNvSpPr/>
          <p:nvPr/>
        </p:nvSpPr>
        <p:spPr>
          <a:xfrm>
            <a:off x="6456759" y="4098250"/>
            <a:ext cx="1894046" cy="60198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Bottles Lost to Downtime</a:t>
            </a:r>
            <a:endParaRPr lang="en-US" sz="1450" dirty="0"/>
          </a:p>
        </p:txBody>
      </p:sp>
      <p:sp>
        <p:nvSpPr>
          <p:cNvPr id="18" name="Text 15"/>
          <p:cNvSpPr/>
          <p:nvPr/>
        </p:nvSpPr>
        <p:spPr>
          <a:xfrm>
            <a:off x="8734425" y="4098250"/>
            <a:ext cx="1132284"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1.875 million</a:t>
            </a:r>
            <a:endParaRPr lang="en-US" sz="1450" dirty="0"/>
          </a:p>
        </p:txBody>
      </p:sp>
      <p:sp>
        <p:nvSpPr>
          <p:cNvPr id="19" name="Text 16"/>
          <p:cNvSpPr/>
          <p:nvPr/>
        </p:nvSpPr>
        <p:spPr>
          <a:xfrm>
            <a:off x="10250329" y="4098250"/>
            <a:ext cx="151126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1.125 million</a:t>
            </a:r>
            <a:endParaRPr lang="en-US" sz="1450" dirty="0"/>
          </a:p>
        </p:txBody>
      </p:sp>
      <p:sp>
        <p:nvSpPr>
          <p:cNvPr id="20" name="Text 17"/>
          <p:cNvSpPr/>
          <p:nvPr/>
        </p:nvSpPr>
        <p:spPr>
          <a:xfrm>
            <a:off x="12145208" y="4098250"/>
            <a:ext cx="1515070" cy="60198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+7.5 lakh bottles recovered</a:t>
            </a:r>
            <a:endParaRPr lang="en-US" sz="1450" dirty="0"/>
          </a:p>
        </p:txBody>
      </p:sp>
      <p:sp>
        <p:nvSpPr>
          <p:cNvPr id="21" name="Shape 18"/>
          <p:cNvSpPr/>
          <p:nvPr/>
        </p:nvSpPr>
        <p:spPr>
          <a:xfrm>
            <a:off x="6268522" y="4820603"/>
            <a:ext cx="7579757" cy="842724"/>
          </a:xfrm>
          <a:prstGeom prst="rect">
            <a:avLst/>
          </a:prstGeom>
          <a:solidFill>
            <a:srgbClr val="000000">
              <a:alpha val="4000"/>
            </a:srgbClr>
          </a:solidFill>
          <a:ln/>
        </p:spPr>
      </p:sp>
      <p:sp>
        <p:nvSpPr>
          <p:cNvPr id="22" name="Text 19"/>
          <p:cNvSpPr/>
          <p:nvPr/>
        </p:nvSpPr>
        <p:spPr>
          <a:xfrm>
            <a:off x="6456759" y="4940975"/>
            <a:ext cx="1894046"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Extra Revenue</a:t>
            </a:r>
            <a:endParaRPr lang="en-US" sz="1450" dirty="0"/>
          </a:p>
        </p:txBody>
      </p:sp>
      <p:sp>
        <p:nvSpPr>
          <p:cNvPr id="23" name="Text 20"/>
          <p:cNvSpPr/>
          <p:nvPr/>
        </p:nvSpPr>
        <p:spPr>
          <a:xfrm>
            <a:off x="8734425" y="4940975"/>
            <a:ext cx="1132284"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a:t>
            </a:r>
            <a:endParaRPr lang="en-US" sz="1450" dirty="0"/>
          </a:p>
        </p:txBody>
      </p:sp>
      <p:sp>
        <p:nvSpPr>
          <p:cNvPr id="24" name="Text 21"/>
          <p:cNvSpPr/>
          <p:nvPr/>
        </p:nvSpPr>
        <p:spPr>
          <a:xfrm>
            <a:off x="10250329" y="4940975"/>
            <a:ext cx="151126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₹15 lakh/year</a:t>
            </a:r>
            <a:endParaRPr lang="en-US" sz="1450" dirty="0"/>
          </a:p>
        </p:txBody>
      </p:sp>
      <p:sp>
        <p:nvSpPr>
          <p:cNvPr id="25" name="Text 22"/>
          <p:cNvSpPr/>
          <p:nvPr/>
        </p:nvSpPr>
        <p:spPr>
          <a:xfrm>
            <a:off x="12145208" y="4940975"/>
            <a:ext cx="1515070" cy="60198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From additional production</a:t>
            </a:r>
            <a:endParaRPr lang="en-US" sz="1450" dirty="0"/>
          </a:p>
        </p:txBody>
      </p:sp>
      <p:sp>
        <p:nvSpPr>
          <p:cNvPr id="26" name="Shape 23"/>
          <p:cNvSpPr/>
          <p:nvPr/>
        </p:nvSpPr>
        <p:spPr>
          <a:xfrm>
            <a:off x="6268522" y="5663327"/>
            <a:ext cx="7579757" cy="541734"/>
          </a:xfrm>
          <a:prstGeom prst="rect">
            <a:avLst/>
          </a:prstGeom>
          <a:solidFill>
            <a:srgbClr val="FFFFFF">
              <a:alpha val="4000"/>
            </a:srgbClr>
          </a:solidFill>
          <a:ln/>
        </p:spPr>
      </p:sp>
      <p:sp>
        <p:nvSpPr>
          <p:cNvPr id="27" name="Text 24"/>
          <p:cNvSpPr/>
          <p:nvPr/>
        </p:nvSpPr>
        <p:spPr>
          <a:xfrm>
            <a:off x="6456759" y="5783699"/>
            <a:ext cx="1894046"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Availability</a:t>
            </a:r>
            <a:endParaRPr lang="en-US" sz="1450" dirty="0"/>
          </a:p>
        </p:txBody>
      </p:sp>
      <p:sp>
        <p:nvSpPr>
          <p:cNvPr id="28" name="Text 25"/>
          <p:cNvSpPr/>
          <p:nvPr/>
        </p:nvSpPr>
        <p:spPr>
          <a:xfrm>
            <a:off x="8734425" y="5783699"/>
            <a:ext cx="1132284"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94%</a:t>
            </a:r>
            <a:endParaRPr lang="en-US" sz="1450" dirty="0"/>
          </a:p>
        </p:txBody>
      </p:sp>
      <p:sp>
        <p:nvSpPr>
          <p:cNvPr id="29" name="Text 26"/>
          <p:cNvSpPr/>
          <p:nvPr/>
        </p:nvSpPr>
        <p:spPr>
          <a:xfrm>
            <a:off x="10250329" y="5783699"/>
            <a:ext cx="151126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97%</a:t>
            </a:r>
            <a:endParaRPr lang="en-US" sz="1450" dirty="0"/>
          </a:p>
        </p:txBody>
      </p:sp>
      <p:sp>
        <p:nvSpPr>
          <p:cNvPr id="30" name="Text 27"/>
          <p:cNvSpPr/>
          <p:nvPr/>
        </p:nvSpPr>
        <p:spPr>
          <a:xfrm>
            <a:off x="12145208" y="5783699"/>
            <a:ext cx="1515070" cy="300990"/>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+3% uptime</a:t>
            </a:r>
            <a:endParaRPr lang="en-US" sz="1450" dirty="0"/>
          </a:p>
        </p:txBody>
      </p:sp>
      <p:sp>
        <p:nvSpPr>
          <p:cNvPr id="31" name="Text 28"/>
          <p:cNvSpPr/>
          <p:nvPr/>
        </p:nvSpPr>
        <p:spPr>
          <a:xfrm>
            <a:off x="6260902" y="6424255"/>
            <a:ext cx="7594997" cy="902970"/>
          </a:xfrm>
          <a:prstGeom prst="rect">
            <a:avLst/>
          </a:prstGeom>
          <a:noFill/>
          <a:ln/>
        </p:spPr>
        <p:txBody>
          <a:bodyPr wrap="square" lIns="0" tIns="0" rIns="0" bIns="0" rtlCol="0" anchor="t"/>
          <a:lstStyle/>
          <a:p>
            <a:pPr marL="0" indent="0" algn="l">
              <a:lnSpc>
                <a:spcPts val="2350"/>
              </a:lnSpc>
              <a:buNone/>
            </a:pPr>
            <a:r>
              <a:rPr lang="en-US" dirty="0">
                <a:solidFill>
                  <a:srgbClr val="272525"/>
                </a:solidFill>
                <a:latin typeface="Inter" pitchFamily="34" charset="0"/>
                <a:ea typeface="Inter" pitchFamily="34" charset="-122"/>
                <a:cs typeface="Inter" pitchFamily="34" charset="-120"/>
              </a:rPr>
              <a:t>Predictive maintenance reduces annual downtime by </a:t>
            </a:r>
            <a:r>
              <a:rPr lang="en-US" b="1" dirty="0">
                <a:solidFill>
                  <a:srgbClr val="272525"/>
                </a:solidFill>
                <a:latin typeface="Inter" pitchFamily="34" charset="0"/>
                <a:ea typeface="Inter" pitchFamily="34" charset="-122"/>
                <a:cs typeface="Inter" pitchFamily="34" charset="-120"/>
              </a:rPr>
              <a:t>200 hours</a:t>
            </a:r>
            <a:r>
              <a:rPr lang="en-US" dirty="0">
                <a:solidFill>
                  <a:srgbClr val="272525"/>
                </a:solidFill>
                <a:latin typeface="Inter" pitchFamily="34" charset="0"/>
                <a:ea typeface="Inter" pitchFamily="34" charset="-122"/>
                <a:cs typeface="Inter" pitchFamily="34" charset="-120"/>
              </a:rPr>
              <a:t>, adding </a:t>
            </a:r>
            <a:r>
              <a:rPr lang="en-US" b="1" dirty="0">
                <a:solidFill>
                  <a:srgbClr val="272525"/>
                </a:solidFill>
                <a:latin typeface="Inter" pitchFamily="34" charset="0"/>
                <a:ea typeface="Inter" pitchFamily="34" charset="-122"/>
                <a:cs typeface="Inter" pitchFamily="34" charset="-120"/>
              </a:rPr>
              <a:t>~7.5 lakh bottles</a:t>
            </a:r>
            <a:r>
              <a:rPr lang="en-US" dirty="0">
                <a:solidFill>
                  <a:srgbClr val="272525"/>
                </a:solidFill>
                <a:latin typeface="Inter" pitchFamily="34" charset="0"/>
                <a:ea typeface="Inter" pitchFamily="34" charset="-122"/>
                <a:cs typeface="Inter" pitchFamily="34" charset="-120"/>
              </a:rPr>
              <a:t> of output and </a:t>
            </a:r>
            <a:r>
              <a:rPr lang="en-US" b="1" dirty="0">
                <a:solidFill>
                  <a:srgbClr val="272525"/>
                </a:solidFill>
                <a:latin typeface="Inter" pitchFamily="34" charset="0"/>
                <a:ea typeface="Inter" pitchFamily="34" charset="-122"/>
                <a:cs typeface="Inter" pitchFamily="34" charset="-120"/>
              </a:rPr>
              <a:t>~₹15 lakh</a:t>
            </a:r>
            <a:r>
              <a:rPr lang="en-US" dirty="0">
                <a:solidFill>
                  <a:srgbClr val="272525"/>
                </a:solidFill>
                <a:latin typeface="Inter" pitchFamily="34" charset="0"/>
                <a:ea typeface="Inter" pitchFamily="34" charset="-122"/>
                <a:cs typeface="Inter" pitchFamily="34" charset="-120"/>
              </a:rPr>
              <a:t> in additional annual revenue — a clear gain in equipment availability and system reliability.</a:t>
            </a:r>
            <a:endParaRPr lang="en-US" dirty="0"/>
          </a:p>
        </p:txBody>
      </p:sp>
      <p:sp>
        <p:nvSpPr>
          <p:cNvPr id="32" name="Rectangle 31">
            <a:extLst>
              <a:ext uri="{FF2B5EF4-FFF2-40B4-BE49-F238E27FC236}">
                <a16:creationId xmlns:a16="http://schemas.microsoft.com/office/drawing/2014/main" id="{D98621EF-733D-CCA7-263F-BC517DBA08C9}"/>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27221"/>
            <a:ext cx="11825764"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Financial Analysis and Strategic Outcomes</a:t>
            </a:r>
            <a:endParaRPr lang="en-US" sz="4450" dirty="0"/>
          </a:p>
        </p:txBody>
      </p:sp>
      <p:sp>
        <p:nvSpPr>
          <p:cNvPr id="3" name="Shape 1"/>
          <p:cNvSpPr/>
          <p:nvPr/>
        </p:nvSpPr>
        <p:spPr>
          <a:xfrm>
            <a:off x="793790" y="1789628"/>
            <a:ext cx="4196358" cy="2909888"/>
          </a:xfrm>
          <a:prstGeom prst="roundRect">
            <a:avLst>
              <a:gd name="adj" fmla="val 3274"/>
            </a:avLst>
          </a:prstGeom>
          <a:solidFill>
            <a:srgbClr val="DADBF1"/>
          </a:solidFill>
          <a:ln w="7620">
            <a:solidFill>
              <a:srgbClr val="C0C1D7"/>
            </a:solidFill>
            <a:prstDash val="solid"/>
          </a:ln>
        </p:spPr>
      </p:sp>
      <p:sp>
        <p:nvSpPr>
          <p:cNvPr id="4" name="Text 2"/>
          <p:cNvSpPr/>
          <p:nvPr/>
        </p:nvSpPr>
        <p:spPr>
          <a:xfrm>
            <a:off x="1028224" y="2024063"/>
            <a:ext cx="335553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Annual Material Savings</a:t>
            </a:r>
            <a:endParaRPr lang="en-US" sz="2200" dirty="0"/>
          </a:p>
        </p:txBody>
      </p:sp>
      <p:sp>
        <p:nvSpPr>
          <p:cNvPr id="5" name="Text 3"/>
          <p:cNvSpPr/>
          <p:nvPr/>
        </p:nvSpPr>
        <p:spPr>
          <a:xfrm>
            <a:off x="1028224" y="2514481"/>
            <a:ext cx="3727490"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₹1.44 crore</a:t>
            </a:r>
            <a:endParaRPr lang="en-US" sz="1750" dirty="0"/>
          </a:p>
        </p:txBody>
      </p:sp>
      <p:sp>
        <p:nvSpPr>
          <p:cNvPr id="6" name="Text 4"/>
          <p:cNvSpPr/>
          <p:nvPr/>
        </p:nvSpPr>
        <p:spPr>
          <a:xfrm>
            <a:off x="1028224" y="3013472"/>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20% reduction in paint consumption delivers substantial cost savings through improved transfer efficiency</a:t>
            </a:r>
            <a:endParaRPr lang="en-US" sz="1750" dirty="0"/>
          </a:p>
        </p:txBody>
      </p:sp>
      <p:sp>
        <p:nvSpPr>
          <p:cNvPr id="7" name="Shape 5"/>
          <p:cNvSpPr/>
          <p:nvPr/>
        </p:nvSpPr>
        <p:spPr>
          <a:xfrm>
            <a:off x="5216962" y="1789628"/>
            <a:ext cx="4196358" cy="2909888"/>
          </a:xfrm>
          <a:prstGeom prst="roundRect">
            <a:avLst>
              <a:gd name="adj" fmla="val 3274"/>
            </a:avLst>
          </a:prstGeom>
          <a:solidFill>
            <a:srgbClr val="DADBF1"/>
          </a:solidFill>
          <a:ln w="7620">
            <a:solidFill>
              <a:srgbClr val="C0C1D7"/>
            </a:solidFill>
            <a:prstDash val="solid"/>
          </a:ln>
        </p:spPr>
      </p:sp>
      <p:sp>
        <p:nvSpPr>
          <p:cNvPr id="8" name="Text 6"/>
          <p:cNvSpPr/>
          <p:nvPr/>
        </p:nvSpPr>
        <p:spPr>
          <a:xfrm>
            <a:off x="5451396" y="2024063"/>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Additional Production Revenue</a:t>
            </a:r>
            <a:endParaRPr lang="en-US" sz="2200" dirty="0"/>
          </a:p>
        </p:txBody>
      </p:sp>
      <p:sp>
        <p:nvSpPr>
          <p:cNvPr id="9" name="Text 7"/>
          <p:cNvSpPr/>
          <p:nvPr/>
        </p:nvSpPr>
        <p:spPr>
          <a:xfrm>
            <a:off x="5451396" y="2868811"/>
            <a:ext cx="3727490"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₹15 lakh per year</a:t>
            </a:r>
            <a:endParaRPr lang="en-US" sz="1750" dirty="0"/>
          </a:p>
        </p:txBody>
      </p:sp>
      <p:sp>
        <p:nvSpPr>
          <p:cNvPr id="10" name="Text 8"/>
          <p:cNvSpPr/>
          <p:nvPr/>
        </p:nvSpPr>
        <p:spPr>
          <a:xfrm>
            <a:off x="5451396" y="3367802"/>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Recovered production capacity from reduced downtime creates new revenue opportunities</a:t>
            </a:r>
            <a:endParaRPr lang="en-US" sz="1750" dirty="0"/>
          </a:p>
        </p:txBody>
      </p:sp>
      <p:sp>
        <p:nvSpPr>
          <p:cNvPr id="11" name="Shape 9"/>
          <p:cNvSpPr/>
          <p:nvPr/>
        </p:nvSpPr>
        <p:spPr>
          <a:xfrm>
            <a:off x="9640133" y="1789628"/>
            <a:ext cx="4196358" cy="2909888"/>
          </a:xfrm>
          <a:prstGeom prst="roundRect">
            <a:avLst>
              <a:gd name="adj" fmla="val 3274"/>
            </a:avLst>
          </a:prstGeom>
          <a:solidFill>
            <a:srgbClr val="DADBF1"/>
          </a:solidFill>
          <a:ln w="7620">
            <a:solidFill>
              <a:srgbClr val="C0C1D7"/>
            </a:solidFill>
            <a:prstDash val="solid"/>
          </a:ln>
        </p:spPr>
      </p:sp>
      <p:sp>
        <p:nvSpPr>
          <p:cNvPr id="12" name="Text 10"/>
          <p:cNvSpPr/>
          <p:nvPr/>
        </p:nvSpPr>
        <p:spPr>
          <a:xfrm>
            <a:off x="9874568" y="202406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Total Annual Benefit</a:t>
            </a:r>
            <a:endParaRPr lang="en-US" sz="2200" dirty="0"/>
          </a:p>
        </p:txBody>
      </p:sp>
      <p:sp>
        <p:nvSpPr>
          <p:cNvPr id="13" name="Text 11"/>
          <p:cNvSpPr/>
          <p:nvPr/>
        </p:nvSpPr>
        <p:spPr>
          <a:xfrm>
            <a:off x="9874568" y="2514481"/>
            <a:ext cx="3727490"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₹1.59 crore</a:t>
            </a:r>
            <a:endParaRPr lang="en-US" sz="1750" dirty="0"/>
          </a:p>
        </p:txBody>
      </p:sp>
      <p:sp>
        <p:nvSpPr>
          <p:cNvPr id="14" name="Text 12"/>
          <p:cNvSpPr/>
          <p:nvPr/>
        </p:nvSpPr>
        <p:spPr>
          <a:xfrm>
            <a:off x="9874568" y="3013472"/>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Combined savings and revenue generation demonstrate compelling business case</a:t>
            </a:r>
            <a:endParaRPr lang="en-US" sz="1750" dirty="0"/>
          </a:p>
        </p:txBody>
      </p:sp>
      <p:sp>
        <p:nvSpPr>
          <p:cNvPr id="15" name="Text 13"/>
          <p:cNvSpPr/>
          <p:nvPr/>
        </p:nvSpPr>
        <p:spPr>
          <a:xfrm>
            <a:off x="793790" y="5181481"/>
            <a:ext cx="3559016"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Return on Investment</a:t>
            </a:r>
            <a:endParaRPr lang="en-US" sz="2650" dirty="0"/>
          </a:p>
        </p:txBody>
      </p:sp>
      <p:sp>
        <p:nvSpPr>
          <p:cNvPr id="16" name="Text 14"/>
          <p:cNvSpPr/>
          <p:nvPr/>
        </p:nvSpPr>
        <p:spPr>
          <a:xfrm>
            <a:off x="793790" y="58335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Annual ROI: 750%</a:t>
            </a:r>
            <a:endParaRPr lang="en-US" sz="1750" dirty="0"/>
          </a:p>
        </p:txBody>
      </p:sp>
      <p:sp>
        <p:nvSpPr>
          <p:cNvPr id="17" name="Text 15"/>
          <p:cNvSpPr/>
          <p:nvPr/>
        </p:nvSpPr>
        <p:spPr>
          <a:xfrm>
            <a:off x="793790" y="627578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Payback Period: 1.6 months</a:t>
            </a:r>
            <a:endParaRPr lang="en-US" sz="1750" dirty="0"/>
          </a:p>
        </p:txBody>
      </p:sp>
      <p:sp>
        <p:nvSpPr>
          <p:cNvPr id="18" name="Text 16"/>
          <p:cNvSpPr/>
          <p:nvPr/>
        </p:nvSpPr>
        <p:spPr>
          <a:xfrm>
            <a:off x="793790" y="671798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Rapid capital recovery with sustained benefits</a:t>
            </a:r>
            <a:endParaRPr lang="en-US" sz="1750" dirty="0"/>
          </a:p>
        </p:txBody>
      </p:sp>
      <p:sp>
        <p:nvSpPr>
          <p:cNvPr id="19" name="Text 17"/>
          <p:cNvSpPr/>
          <p:nvPr/>
        </p:nvSpPr>
        <p:spPr>
          <a:xfrm>
            <a:off x="7599521" y="5181481"/>
            <a:ext cx="3975021"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Strategic Achievements</a:t>
            </a:r>
            <a:endParaRPr lang="en-US" sz="2650" dirty="0"/>
          </a:p>
        </p:txBody>
      </p:sp>
      <p:sp>
        <p:nvSpPr>
          <p:cNvPr id="20" name="Text 18"/>
          <p:cNvSpPr/>
          <p:nvPr/>
        </p:nvSpPr>
        <p:spPr>
          <a:xfrm>
            <a:off x="7599521" y="58335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20% throughput increase</a:t>
            </a:r>
            <a:endParaRPr lang="en-US" sz="1750" dirty="0"/>
          </a:p>
        </p:txBody>
      </p:sp>
      <p:sp>
        <p:nvSpPr>
          <p:cNvPr id="21" name="Text 19"/>
          <p:cNvSpPr/>
          <p:nvPr/>
        </p:nvSpPr>
        <p:spPr>
          <a:xfrm>
            <a:off x="7599521" y="627578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19% material cost reduction</a:t>
            </a:r>
            <a:endParaRPr lang="en-US" sz="1750" dirty="0"/>
          </a:p>
        </p:txBody>
      </p:sp>
      <p:sp>
        <p:nvSpPr>
          <p:cNvPr id="22" name="Text 20"/>
          <p:cNvSpPr/>
          <p:nvPr/>
        </p:nvSpPr>
        <p:spPr>
          <a:xfrm>
            <a:off x="7599521" y="671798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40% downtime improvement</a:t>
            </a:r>
            <a:endParaRPr lang="en-US" sz="1750" dirty="0"/>
          </a:p>
        </p:txBody>
      </p:sp>
      <p:sp>
        <p:nvSpPr>
          <p:cNvPr id="23" name="Text 21"/>
          <p:cNvSpPr/>
          <p:nvPr/>
        </p:nvSpPr>
        <p:spPr>
          <a:xfrm>
            <a:off x="7599521" y="716018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Enhanced sustainability profile</a:t>
            </a:r>
            <a:endParaRPr lang="en-US" sz="1750" dirty="0"/>
          </a:p>
        </p:txBody>
      </p:sp>
      <p:sp>
        <p:nvSpPr>
          <p:cNvPr id="24" name="Rectangle 23">
            <a:extLst>
              <a:ext uri="{FF2B5EF4-FFF2-40B4-BE49-F238E27FC236}">
                <a16:creationId xmlns:a16="http://schemas.microsoft.com/office/drawing/2014/main" id="{4104809A-75CB-6F83-DB2A-7401560FA252}"/>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63416"/>
            <a:ext cx="8356997" cy="637937"/>
          </a:xfrm>
          <a:prstGeom prst="rect">
            <a:avLst/>
          </a:prstGeom>
          <a:noFill/>
          <a:ln/>
        </p:spPr>
        <p:txBody>
          <a:bodyPr wrap="non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Project Highlights: Key Outcomes</a:t>
            </a:r>
            <a:endParaRPr lang="en-US" sz="4000" dirty="0"/>
          </a:p>
        </p:txBody>
      </p:sp>
      <p:sp>
        <p:nvSpPr>
          <p:cNvPr id="3" name="Text 1"/>
          <p:cNvSpPr/>
          <p:nvPr/>
        </p:nvSpPr>
        <p:spPr>
          <a:xfrm>
            <a:off x="2481501" y="1709618"/>
            <a:ext cx="2779514" cy="318849"/>
          </a:xfrm>
          <a:prstGeom prst="rect">
            <a:avLst/>
          </a:prstGeom>
          <a:noFill/>
          <a:ln/>
        </p:spPr>
        <p:txBody>
          <a:bodyPr wrap="none" lIns="0" tIns="0" rIns="0" bIns="0" rtlCol="0" anchor="t"/>
          <a:lstStyle/>
          <a:p>
            <a:pPr marL="0" indent="0" algn="r">
              <a:lnSpc>
                <a:spcPts val="2500"/>
              </a:lnSpc>
              <a:buNone/>
            </a:pPr>
            <a:r>
              <a:rPr lang="en-US" sz="2000" b="1" dirty="0">
                <a:solidFill>
                  <a:srgbClr val="272525"/>
                </a:solidFill>
                <a:latin typeface="Inter Bold" pitchFamily="34" charset="0"/>
                <a:ea typeface="Inter Bold" pitchFamily="34" charset="-122"/>
                <a:cs typeface="Inter Bold" pitchFamily="34" charset="-120"/>
              </a:rPr>
              <a:t>Technology Transition</a:t>
            </a:r>
            <a:endParaRPr lang="en-US" sz="2000" dirty="0"/>
          </a:p>
        </p:txBody>
      </p:sp>
      <p:sp>
        <p:nvSpPr>
          <p:cNvPr id="4" name="Text 2"/>
          <p:cNvSpPr/>
          <p:nvPr/>
        </p:nvSpPr>
        <p:spPr>
          <a:xfrm>
            <a:off x="793790" y="2150864"/>
            <a:ext cx="4467225" cy="1306830"/>
          </a:xfrm>
          <a:prstGeom prst="rect">
            <a:avLst/>
          </a:prstGeom>
          <a:noFill/>
          <a:ln/>
        </p:spPr>
        <p:txBody>
          <a:bodyPr wrap="square" lIns="0" tIns="0" rIns="0" bIns="0" rtlCol="0" anchor="t"/>
          <a:lstStyle/>
          <a:p>
            <a:pPr marL="0" indent="0" algn="r">
              <a:lnSpc>
                <a:spcPts val="2550"/>
              </a:lnSpc>
              <a:buNone/>
            </a:pPr>
            <a:r>
              <a:rPr lang="en-US" sz="1600" dirty="0">
                <a:solidFill>
                  <a:srgbClr val="272525"/>
                </a:solidFill>
                <a:latin typeface="Inter" pitchFamily="34" charset="0"/>
                <a:ea typeface="Inter" pitchFamily="34" charset="-122"/>
                <a:cs typeface="Inter" pitchFamily="34" charset="-120"/>
              </a:rPr>
              <a:t>Successfully migrated from traditional air-spray to advanced electrostatic spray technology for beverage bottle production, enhancing efficiency and quality.</a:t>
            </a:r>
            <a:endParaRPr lang="en-US" sz="1600" dirty="0"/>
          </a:p>
        </p:txBody>
      </p:sp>
      <p:pic>
        <p:nvPicPr>
          <p:cNvPr id="5" name="Image 0" descr="preencoded.png"/>
          <p:cNvPicPr>
            <a:picLocks noChangeAspect="1"/>
          </p:cNvPicPr>
          <p:nvPr/>
        </p:nvPicPr>
        <p:blipFill>
          <a:blip r:embed="rId3"/>
          <a:stretch>
            <a:fillRect/>
          </a:stretch>
        </p:blipFill>
        <p:spPr>
          <a:xfrm>
            <a:off x="5261015" y="2583656"/>
            <a:ext cx="4108371" cy="4108371"/>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42616" y="3578066"/>
            <a:ext cx="287060" cy="287060"/>
          </a:xfrm>
          <a:prstGeom prst="rect">
            <a:avLst/>
          </a:prstGeom>
        </p:spPr>
      </p:pic>
      <p:sp>
        <p:nvSpPr>
          <p:cNvPr id="7" name="Text 3"/>
          <p:cNvSpPr/>
          <p:nvPr/>
        </p:nvSpPr>
        <p:spPr>
          <a:xfrm>
            <a:off x="9369385" y="1872972"/>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Operational Gains</a:t>
            </a:r>
            <a:endParaRPr lang="en-US" sz="2000" dirty="0"/>
          </a:p>
        </p:txBody>
      </p:sp>
      <p:sp>
        <p:nvSpPr>
          <p:cNvPr id="8" name="Text 4"/>
          <p:cNvSpPr/>
          <p:nvPr/>
        </p:nvSpPr>
        <p:spPr>
          <a:xfrm>
            <a:off x="9369385" y="2314218"/>
            <a:ext cx="4467225" cy="980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Achieved a </a:t>
            </a:r>
            <a:r>
              <a:rPr lang="en-US" sz="1600" b="1" dirty="0">
                <a:solidFill>
                  <a:srgbClr val="006400"/>
                </a:solidFill>
                <a:latin typeface="Inter" pitchFamily="34" charset="0"/>
                <a:ea typeface="Inter" pitchFamily="34" charset="-122"/>
                <a:cs typeface="Inter" pitchFamily="34" charset="-120"/>
              </a:rPr>
              <a:t>20% increase in throughput</a:t>
            </a:r>
            <a:r>
              <a:rPr lang="en-US" sz="1600" dirty="0">
                <a:solidFill>
                  <a:srgbClr val="272525"/>
                </a:solidFill>
                <a:latin typeface="Inter" pitchFamily="34" charset="0"/>
                <a:ea typeface="Inter" pitchFamily="34" charset="-122"/>
                <a:cs typeface="Inter" pitchFamily="34" charset="-120"/>
              </a:rPr>
              <a:t> and </a:t>
            </a:r>
            <a:r>
              <a:rPr lang="en-US" sz="1600" b="1" dirty="0">
                <a:solidFill>
                  <a:srgbClr val="006400"/>
                </a:solidFill>
                <a:latin typeface="Inter" pitchFamily="34" charset="0"/>
                <a:ea typeface="Inter" pitchFamily="34" charset="-122"/>
                <a:cs typeface="Inter" pitchFamily="34" charset="-120"/>
              </a:rPr>
              <a:t>19% paint material savings</a:t>
            </a:r>
            <a:r>
              <a:rPr lang="en-US" sz="1600" dirty="0">
                <a:solidFill>
                  <a:srgbClr val="272525"/>
                </a:solidFill>
                <a:latin typeface="Inter" pitchFamily="34" charset="0"/>
                <a:ea typeface="Inter" pitchFamily="34" charset="-122"/>
                <a:cs typeface="Inter" pitchFamily="34" charset="-120"/>
              </a:rPr>
              <a:t>, optimizing resource utilization.</a:t>
            </a:r>
            <a:endParaRPr lang="en-US" sz="1600" dirty="0"/>
          </a:p>
        </p:txBody>
      </p:sp>
      <p:pic>
        <p:nvPicPr>
          <p:cNvPr id="9" name="Image 2" descr="preencoded.png"/>
          <p:cNvPicPr>
            <a:picLocks noChangeAspect="1"/>
          </p:cNvPicPr>
          <p:nvPr/>
        </p:nvPicPr>
        <p:blipFill>
          <a:blip r:embed="rId6"/>
          <a:stretch>
            <a:fillRect/>
          </a:stretch>
        </p:blipFill>
        <p:spPr>
          <a:xfrm>
            <a:off x="5261015" y="2583656"/>
            <a:ext cx="4108371" cy="4108371"/>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00486" y="3578066"/>
            <a:ext cx="287060" cy="287060"/>
          </a:xfrm>
          <a:prstGeom prst="rect">
            <a:avLst/>
          </a:prstGeom>
        </p:spPr>
      </p:pic>
      <p:sp>
        <p:nvSpPr>
          <p:cNvPr id="11" name="Text 5"/>
          <p:cNvSpPr/>
          <p:nvPr/>
        </p:nvSpPr>
        <p:spPr>
          <a:xfrm>
            <a:off x="9777651" y="3927157"/>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Enhanced Reliability</a:t>
            </a:r>
            <a:endParaRPr lang="en-US" sz="2000" dirty="0"/>
          </a:p>
        </p:txBody>
      </p:sp>
      <p:sp>
        <p:nvSpPr>
          <p:cNvPr id="12" name="Text 6"/>
          <p:cNvSpPr/>
          <p:nvPr/>
        </p:nvSpPr>
        <p:spPr>
          <a:xfrm>
            <a:off x="9777651" y="4368403"/>
            <a:ext cx="4058960" cy="980123"/>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Reduced unplanned downtime by </a:t>
            </a:r>
            <a:r>
              <a:rPr lang="en-US" sz="1600" b="1" dirty="0">
                <a:solidFill>
                  <a:srgbClr val="006400"/>
                </a:solidFill>
                <a:latin typeface="Inter" pitchFamily="34" charset="0"/>
                <a:ea typeface="Inter" pitchFamily="34" charset="-122"/>
                <a:cs typeface="Inter" pitchFamily="34" charset="-120"/>
              </a:rPr>
              <a:t>40%</a:t>
            </a:r>
            <a:r>
              <a:rPr lang="en-US" sz="1600" dirty="0">
                <a:solidFill>
                  <a:srgbClr val="272525"/>
                </a:solidFill>
                <a:latin typeface="Inter" pitchFamily="34" charset="0"/>
                <a:ea typeface="Inter" pitchFamily="34" charset="-122"/>
                <a:cs typeface="Inter" pitchFamily="34" charset="-120"/>
              </a:rPr>
              <a:t> through strategic predictive maintenance integration.</a:t>
            </a:r>
            <a:endParaRPr lang="en-US" sz="1600" dirty="0"/>
          </a:p>
        </p:txBody>
      </p:sp>
      <p:pic>
        <p:nvPicPr>
          <p:cNvPr id="13" name="Image 4" descr="preencoded.png"/>
          <p:cNvPicPr>
            <a:picLocks noChangeAspect="1"/>
          </p:cNvPicPr>
          <p:nvPr/>
        </p:nvPicPr>
        <p:blipFill>
          <a:blip r:embed="rId9"/>
          <a:stretch>
            <a:fillRect/>
          </a:stretch>
        </p:blipFill>
        <p:spPr>
          <a:xfrm>
            <a:off x="5261015" y="2583656"/>
            <a:ext cx="4108371" cy="4108371"/>
          </a:xfrm>
          <a:prstGeom prst="rect">
            <a:avLst/>
          </a:prstGeom>
        </p:spPr>
      </p:pic>
      <p:pic>
        <p:nvPicPr>
          <p:cNvPr id="14"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229481" y="4494252"/>
            <a:ext cx="287060" cy="287060"/>
          </a:xfrm>
          <a:prstGeom prst="rect">
            <a:avLst/>
          </a:prstGeom>
        </p:spPr>
      </p:pic>
      <p:sp>
        <p:nvSpPr>
          <p:cNvPr id="15" name="Text 7"/>
          <p:cNvSpPr/>
          <p:nvPr/>
        </p:nvSpPr>
        <p:spPr>
          <a:xfrm>
            <a:off x="9369385" y="5817989"/>
            <a:ext cx="3208139" cy="318849"/>
          </a:xfrm>
          <a:prstGeom prst="rect">
            <a:avLst/>
          </a:prstGeom>
          <a:noFill/>
          <a:ln/>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Simulation &amp; Optimization</a:t>
            </a:r>
            <a:endParaRPr lang="en-US" sz="2000" dirty="0"/>
          </a:p>
        </p:txBody>
      </p:sp>
      <p:sp>
        <p:nvSpPr>
          <p:cNvPr id="16" name="Text 8"/>
          <p:cNvSpPr/>
          <p:nvPr/>
        </p:nvSpPr>
        <p:spPr>
          <a:xfrm>
            <a:off x="9369385" y="6259235"/>
            <a:ext cx="4467225" cy="130683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Inter" pitchFamily="34" charset="0"/>
                <a:ea typeface="Inter" pitchFamily="34" charset="-122"/>
                <a:cs typeface="Inter" pitchFamily="34" charset="-120"/>
              </a:rPr>
              <a:t>Utilized JaamSim simulation for rigorous process optimization and performance benchmarking, driving continuous improvement.</a:t>
            </a:r>
            <a:endParaRPr lang="en-US" sz="1600" dirty="0"/>
          </a:p>
        </p:txBody>
      </p:sp>
      <p:pic>
        <p:nvPicPr>
          <p:cNvPr id="17" name="Image 6" descr="preencoded.png"/>
          <p:cNvPicPr>
            <a:picLocks noChangeAspect="1"/>
          </p:cNvPicPr>
          <p:nvPr/>
        </p:nvPicPr>
        <p:blipFill>
          <a:blip r:embed="rId12"/>
          <a:stretch>
            <a:fillRect/>
          </a:stretch>
        </p:blipFill>
        <p:spPr>
          <a:xfrm>
            <a:off x="5261015" y="2583656"/>
            <a:ext cx="4108371" cy="4108371"/>
          </a:xfrm>
          <a:prstGeom prst="rect">
            <a:avLst/>
          </a:prstGeom>
        </p:spPr>
      </p:pic>
      <p:pic>
        <p:nvPicPr>
          <p:cNvPr id="18"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00486" y="5410319"/>
            <a:ext cx="287060" cy="287060"/>
          </a:xfrm>
          <a:prstGeom prst="rect">
            <a:avLst/>
          </a:prstGeom>
        </p:spPr>
      </p:pic>
      <p:sp>
        <p:nvSpPr>
          <p:cNvPr id="19" name="Text 9"/>
          <p:cNvSpPr/>
          <p:nvPr/>
        </p:nvSpPr>
        <p:spPr>
          <a:xfrm>
            <a:off x="2709267" y="5981343"/>
            <a:ext cx="2551748" cy="318849"/>
          </a:xfrm>
          <a:prstGeom prst="rect">
            <a:avLst/>
          </a:prstGeom>
          <a:noFill/>
          <a:ln/>
        </p:spPr>
        <p:txBody>
          <a:bodyPr wrap="none" lIns="0" tIns="0" rIns="0" bIns="0" rtlCol="0" anchor="t"/>
          <a:lstStyle/>
          <a:p>
            <a:pPr marL="0" indent="0" algn="r">
              <a:lnSpc>
                <a:spcPts val="2500"/>
              </a:lnSpc>
              <a:buNone/>
            </a:pPr>
            <a:r>
              <a:rPr lang="en-US" sz="2000" b="1" dirty="0">
                <a:solidFill>
                  <a:srgbClr val="272525"/>
                </a:solidFill>
                <a:latin typeface="Inter Bold" pitchFamily="34" charset="0"/>
                <a:ea typeface="Inter Bold" pitchFamily="34" charset="-122"/>
                <a:cs typeface="Inter Bold" pitchFamily="34" charset="-120"/>
              </a:rPr>
              <a:t>Exceptional ROI</a:t>
            </a:r>
            <a:endParaRPr lang="en-US" sz="2000" dirty="0"/>
          </a:p>
        </p:txBody>
      </p:sp>
      <p:sp>
        <p:nvSpPr>
          <p:cNvPr id="20" name="Text 10"/>
          <p:cNvSpPr/>
          <p:nvPr/>
        </p:nvSpPr>
        <p:spPr>
          <a:xfrm>
            <a:off x="793790" y="6422588"/>
            <a:ext cx="4467225" cy="980123"/>
          </a:xfrm>
          <a:prstGeom prst="rect">
            <a:avLst/>
          </a:prstGeom>
          <a:noFill/>
          <a:ln/>
        </p:spPr>
        <p:txBody>
          <a:bodyPr wrap="square" lIns="0" tIns="0" rIns="0" bIns="0" rtlCol="0" anchor="t"/>
          <a:lstStyle/>
          <a:p>
            <a:pPr marL="0" indent="0" algn="r">
              <a:lnSpc>
                <a:spcPts val="2550"/>
              </a:lnSpc>
              <a:buNone/>
            </a:pPr>
            <a:r>
              <a:rPr lang="en-US" sz="1600" dirty="0">
                <a:solidFill>
                  <a:srgbClr val="272525"/>
                </a:solidFill>
                <a:latin typeface="Inter" pitchFamily="34" charset="0"/>
                <a:ea typeface="Inter" pitchFamily="34" charset="-122"/>
                <a:cs typeface="Inter" pitchFamily="34" charset="-120"/>
              </a:rPr>
              <a:t>Confirmed rapid payback within </a:t>
            </a:r>
            <a:r>
              <a:rPr lang="en-US" sz="1600" b="1" dirty="0">
                <a:solidFill>
                  <a:srgbClr val="006400"/>
                </a:solidFill>
                <a:latin typeface="Inter" pitchFamily="34" charset="0"/>
                <a:ea typeface="Inter" pitchFamily="34" charset="-122"/>
                <a:cs typeface="Inter" pitchFamily="34" charset="-120"/>
              </a:rPr>
              <a:t>1.6 months</a:t>
            </a:r>
            <a:r>
              <a:rPr lang="en-US" sz="1600" dirty="0">
                <a:solidFill>
                  <a:srgbClr val="272525"/>
                </a:solidFill>
                <a:latin typeface="Inter" pitchFamily="34" charset="0"/>
                <a:ea typeface="Inter" pitchFamily="34" charset="-122"/>
                <a:cs typeface="Inter" pitchFamily="34" charset="-120"/>
              </a:rPr>
              <a:t> and delivered an annual return on investment exceeding</a:t>
            </a:r>
          </a:p>
          <a:p>
            <a:pPr marL="0" indent="0" algn="r">
              <a:lnSpc>
                <a:spcPts val="2550"/>
              </a:lnSpc>
              <a:buNone/>
            </a:pPr>
            <a:r>
              <a:rPr lang="en-US" sz="1600" b="1" dirty="0">
                <a:solidFill>
                  <a:srgbClr val="006400"/>
                </a:solidFill>
                <a:latin typeface="Inter" pitchFamily="34" charset="0"/>
                <a:ea typeface="Inter" pitchFamily="34" charset="-122"/>
                <a:cs typeface="Inter" pitchFamily="34" charset="-120"/>
              </a:rPr>
              <a:t>700%</a:t>
            </a:r>
            <a:r>
              <a:rPr lang="en-US" sz="1600" dirty="0">
                <a:solidFill>
                  <a:srgbClr val="272525"/>
                </a:solidFill>
                <a:latin typeface="Inter" pitchFamily="34" charset="0"/>
                <a:ea typeface="Inter" pitchFamily="34" charset="-122"/>
                <a:cs typeface="Inter" pitchFamily="34" charset="-120"/>
              </a:rPr>
              <a:t>.</a:t>
            </a:r>
            <a:endParaRPr lang="en-US" sz="1600" dirty="0"/>
          </a:p>
        </p:txBody>
      </p:sp>
      <p:pic>
        <p:nvPicPr>
          <p:cNvPr id="21" name="Image 8" descr="preencoded.png"/>
          <p:cNvPicPr>
            <a:picLocks noChangeAspect="1"/>
          </p:cNvPicPr>
          <p:nvPr/>
        </p:nvPicPr>
        <p:blipFill>
          <a:blip r:embed="rId15"/>
          <a:stretch>
            <a:fillRect/>
          </a:stretch>
        </p:blipFill>
        <p:spPr>
          <a:xfrm>
            <a:off x="5261015" y="2583656"/>
            <a:ext cx="4108371" cy="4108371"/>
          </a:xfrm>
          <a:prstGeom prst="rect">
            <a:avLst/>
          </a:prstGeom>
        </p:spPr>
      </p:pic>
      <p:pic>
        <p:nvPicPr>
          <p:cNvPr id="22"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42616" y="5410319"/>
            <a:ext cx="287060" cy="287060"/>
          </a:xfrm>
          <a:prstGeom prst="rect">
            <a:avLst/>
          </a:prstGeom>
        </p:spPr>
      </p:pic>
      <p:sp>
        <p:nvSpPr>
          <p:cNvPr id="23" name="Text 11"/>
          <p:cNvSpPr/>
          <p:nvPr/>
        </p:nvSpPr>
        <p:spPr>
          <a:xfrm>
            <a:off x="2156579" y="3763804"/>
            <a:ext cx="2696170" cy="318849"/>
          </a:xfrm>
          <a:prstGeom prst="rect">
            <a:avLst/>
          </a:prstGeom>
          <a:noFill/>
          <a:ln/>
        </p:spPr>
        <p:txBody>
          <a:bodyPr wrap="none" lIns="0" tIns="0" rIns="0" bIns="0" rtlCol="0" anchor="t"/>
          <a:lstStyle/>
          <a:p>
            <a:pPr marL="0" indent="0" algn="r">
              <a:lnSpc>
                <a:spcPts val="2500"/>
              </a:lnSpc>
              <a:buNone/>
            </a:pPr>
            <a:r>
              <a:rPr lang="en-US" sz="2000" b="1" dirty="0">
                <a:solidFill>
                  <a:srgbClr val="272525"/>
                </a:solidFill>
                <a:latin typeface="Inter Bold" pitchFamily="34" charset="0"/>
                <a:ea typeface="Inter Bold" pitchFamily="34" charset="-122"/>
                <a:cs typeface="Inter Bold" pitchFamily="34" charset="-120"/>
              </a:rPr>
              <a:t>Strategic Advantages</a:t>
            </a:r>
            <a:endParaRPr lang="en-US" sz="2000" dirty="0"/>
          </a:p>
        </p:txBody>
      </p:sp>
      <p:sp>
        <p:nvSpPr>
          <p:cNvPr id="24" name="Text 12"/>
          <p:cNvSpPr/>
          <p:nvPr/>
        </p:nvSpPr>
        <p:spPr>
          <a:xfrm>
            <a:off x="793790" y="4205049"/>
            <a:ext cx="4058960" cy="1306830"/>
          </a:xfrm>
          <a:prstGeom prst="rect">
            <a:avLst/>
          </a:prstGeom>
          <a:noFill/>
          <a:ln/>
        </p:spPr>
        <p:txBody>
          <a:bodyPr wrap="square" lIns="0" tIns="0" rIns="0" bIns="0" rtlCol="0" anchor="t"/>
          <a:lstStyle/>
          <a:p>
            <a:pPr marL="0" indent="0" algn="r">
              <a:lnSpc>
                <a:spcPts val="2550"/>
              </a:lnSpc>
              <a:buNone/>
            </a:pPr>
            <a:r>
              <a:rPr lang="en-US" sz="1600" dirty="0">
                <a:solidFill>
                  <a:srgbClr val="272525"/>
                </a:solidFill>
                <a:latin typeface="Inter" pitchFamily="34" charset="0"/>
                <a:ea typeface="Inter" pitchFamily="34" charset="-122"/>
                <a:cs typeface="Inter" pitchFamily="34" charset="-120"/>
              </a:rPr>
              <a:t>Significantly enhanced sustainability, ensured consistent quality, and improved cost efficiency across all production phases.</a:t>
            </a:r>
            <a:endParaRPr lang="en-US" sz="1600" dirty="0"/>
          </a:p>
        </p:txBody>
      </p:sp>
      <p:pic>
        <p:nvPicPr>
          <p:cNvPr id="25" name="Image 10" descr="preencoded.png"/>
          <p:cNvPicPr>
            <a:picLocks noChangeAspect="1"/>
          </p:cNvPicPr>
          <p:nvPr/>
        </p:nvPicPr>
        <p:blipFill>
          <a:blip r:embed="rId18"/>
          <a:stretch>
            <a:fillRect/>
          </a:stretch>
        </p:blipFill>
        <p:spPr>
          <a:xfrm>
            <a:off x="5261015" y="2583656"/>
            <a:ext cx="4108371" cy="4108371"/>
          </a:xfrm>
          <a:prstGeom prst="rect">
            <a:avLst/>
          </a:prstGeom>
        </p:spPr>
      </p:pic>
      <p:pic>
        <p:nvPicPr>
          <p:cNvPr id="26"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13621" y="4494252"/>
            <a:ext cx="287060" cy="287060"/>
          </a:xfrm>
          <a:prstGeom prst="rect">
            <a:avLst/>
          </a:prstGeom>
        </p:spPr>
      </p:pic>
      <p:sp>
        <p:nvSpPr>
          <p:cNvPr id="27" name="Rectangle 26">
            <a:extLst>
              <a:ext uri="{FF2B5EF4-FFF2-40B4-BE49-F238E27FC236}">
                <a16:creationId xmlns:a16="http://schemas.microsoft.com/office/drawing/2014/main" id="{527A1D26-4B5E-B65A-AFF0-6298E82803AC}"/>
              </a:ext>
            </a:extLst>
          </p:cNvPr>
          <p:cNvSpPr/>
          <p:nvPr/>
        </p:nvSpPr>
        <p:spPr>
          <a:xfrm>
            <a:off x="12896850" y="7781925"/>
            <a:ext cx="1628775" cy="361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1229</Words>
  <Application>Microsoft Office PowerPoint</Application>
  <PresentationFormat>Custom</PresentationFormat>
  <Paragraphs>238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Courier New</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Abhay Tyagi</cp:lastModifiedBy>
  <cp:revision>15</cp:revision>
  <dcterms:created xsi:type="dcterms:W3CDTF">2025-10-29T03:52:19Z</dcterms:created>
  <dcterms:modified xsi:type="dcterms:W3CDTF">2025-10-29T17:42:08Z</dcterms:modified>
</cp:coreProperties>
</file>